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Quality Control Analysis Report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TST Jurisprudence Pipeline - CSDS-352 Capstone</a:t>
            </a:r>
            <a:br/>
            <a:br/>
            <a:r>
              <a:rPr/>
              <a:t>Gustavo Henrique de Jesus da Silva</a:t>
            </a:r>
          </a:p>
        </p:txBody>
      </p:sp>
      <p:sp>
        <p:nvSpPr>
          <p:cNvPr id="4" name="Date Placeholder 3"/>
          <p:cNvSpPr>
            <a:spLocks noGrp="1"/>
          </p:cNvSpPr>
          <p:nvPr>
            <p:ph idx="10" sz="half" type="dt"/>
          </p:nvPr>
        </p:nvSpPr>
        <p:spPr/>
        <p:txBody>
          <a:bodyPr/>
          <a:lstStyle/>
          <a:p>
            <a:pPr lvl="0" indent="0" marL="0">
              <a:buNone/>
            </a:pPr>
            <a:r>
              <a:rPr/>
              <a:t>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Quality Control Analysis Report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Scope and objective</a:t>
            </a:r>
          </a:p>
        </p:txBody>
      </p:sp>
      <p:sp>
        <p:nvSpPr>
          <p:cNvPr id="3" name="Content Placeholder 2"/>
          <p:cNvSpPr>
            <a:spLocks noGrp="1"/>
          </p:cNvSpPr>
          <p:nvPr>
            <p:ph idx="1"/>
          </p:nvPr>
        </p:nvSpPr>
        <p:spPr/>
        <p:txBody>
          <a:bodyPr/>
          <a:lstStyle/>
          <a:p>
            <a:pPr lvl="0" indent="0" marL="0">
              <a:buNone/>
            </a:pPr>
            <a:r>
              <a:rPr/>
              <a:t>This report documents the quality control (QC) module of the TST jurisprudence pipeline. It describes how candidate quality problems are detected, presents the distributions and scores produced over the full corpus of 1058 verbetes, and discusses the concrete anomalies that the module flags for manual review.</a:t>
            </a:r>
          </a:p>
          <a:p>
            <a:pPr lvl="0" indent="0" marL="0">
              <a:buNone/>
            </a:pPr>
            <a:r>
              <a:rPr/>
              <a:t>The module answers two complementary questions:</a:t>
            </a:r>
          </a:p>
          <a:p>
            <a:pPr lvl="0" indent="-342900" marL="342900">
              <a:buAutoNum type="arabicPeriod"/>
            </a:pPr>
            <a:r>
              <a:rPr b="1"/>
              <a:t>Is this record structurally complete?</a:t>
            </a:r>
            <a:r>
              <a:rPr/>
              <a:t> (heuristic rules + supervised classifier)</a:t>
            </a:r>
          </a:p>
          <a:p>
            <a:pPr lvl="0" indent="-342900" marL="342900">
              <a:buAutoNum type="arabicPeriod"/>
            </a:pPr>
            <a:r>
              <a:rPr b="1"/>
              <a:t>Is this record unusual with respect to the rest of the corpus?</a:t>
            </a:r>
            <a:r>
              <a:rPr/>
              <a:t> (unsupervised anomaly detection)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2. Method</a:t>
            </a:r>
          </a:p>
        </p:txBody>
      </p:sp>
      <p:sp>
        <p:nvSpPr>
          <p:cNvPr id="4" name="Text Placeholder 3"/>
          <p:cNvSpPr>
            <a:spLocks noGrp="1"/>
          </p:cNvSpPr>
          <p:nvPr>
            <p:ph idx="2" sz="half" type="body"/>
          </p:nvPr>
        </p:nvSpPr>
        <p:spPr/>
        <p:txBody>
          <a:bodyPr/>
          <a:lstStyle/>
          <a:p>
            <a:pPr lvl="0" indent="0" marL="0">
              <a:spcBef>
                <a:spcPts val="3000"/>
              </a:spcBef>
              <a:buNone/>
            </a:pPr>
            <a:r>
              <a:rPr b="1"/>
              <a:t>2.1 Heuristic labelling</a:t>
            </a:r>
          </a:p>
          <a:p>
            <a:pPr lvl="0" indent="0" marL="0">
              <a:buNone/>
            </a:pPr>
            <a:r>
              <a:rPr/>
              <a:t>During ingestion each verbete receives a heuristic </a:t>
            </a:r>
            <a:r>
              <a:rPr>
                <a:latin typeface="Courier"/>
              </a:rPr>
              <a:t>quality_label</a:t>
            </a:r>
            <a: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Label</a:t>
                      </a:r>
                    </a:p>
                  </a:txBody>
                  <a:tcPr/>
                </a:tc>
                <a:tc>
                  <a:txBody>
                    <a:bodyPr/>
                    <a:lstStyle/>
                    <a:p>
                      <a:pPr lvl="0" indent="0" marL="0">
                        <a:buNone/>
                      </a:pPr>
                      <a:r>
                        <a:rPr/>
                        <a:t>Rule</a:t>
                      </a:r>
                    </a:p>
                  </a:txBody>
                  <a:tcPr/>
                </a:tc>
              </a:tr>
              <a:tr h="0">
                <a:tc>
                  <a:txBody>
                    <a:bodyPr/>
                    <a:lstStyle/>
                    <a:p>
                      <a:pPr lvl="0" indent="0" marL="0">
                        <a:buNone/>
                      </a:pPr>
                      <a:r>
                        <a:rPr>
                          <a:latin typeface="Courier"/>
                        </a:rPr>
                        <a:t>cancelado</a:t>
                      </a:r>
                    </a:p>
                  </a:txBody>
                </a:tc>
                <a:tc>
                  <a:txBody>
                    <a:bodyPr/>
                    <a:lstStyle/>
                    <a:p>
                      <a:pPr lvl="0" indent="0" marL="0">
                        <a:buNone/>
                      </a:pPr>
                      <a:r>
                        <a:rPr/>
                        <a:t>the text contains a cancellation marker (e.g. “cancelada”)</a:t>
                      </a:r>
                    </a:p>
                  </a:txBody>
                </a:tc>
              </a:tr>
              <a:tr h="0">
                <a:tc>
                  <a:txBody>
                    <a:bodyPr/>
                    <a:lstStyle/>
                    <a:p>
                      <a:pPr lvl="0" indent="0" marL="0">
                        <a:buNone/>
                      </a:pPr>
                      <a:r>
                        <a:rPr>
                          <a:latin typeface="Courier"/>
                        </a:rPr>
                        <a:t>curto</a:t>
                      </a:r>
                    </a:p>
                  </a:txBody>
                </a:tc>
                <a:tc>
                  <a:txBody>
                    <a:bodyPr/>
                    <a:lstStyle/>
                    <a:p>
                      <a:pPr lvl="0" indent="0" marL="0">
                        <a:buNone/>
                      </a:pPr>
                      <a:r>
                        <a:rPr/>
                        <a:t>text length below </a:t>
                      </a:r>
                      <a:r>
                        <a:rPr>
                          <a:latin typeface="Courier"/>
                        </a:rPr>
                        <a:t>VERBETE_CURTO</a:t>
                      </a:r>
                      <a:r>
                        <a:rPr/>
                        <a:t> (120 characters)</a:t>
                      </a:r>
                    </a:p>
                  </a:txBody>
                </a:tc>
              </a:tr>
              <a:tr h="0">
                <a:tc>
                  <a:txBody>
                    <a:bodyPr/>
                    <a:lstStyle/>
                    <a:p>
                      <a:pPr lvl="0" indent="0" marL="0">
                        <a:buNone/>
                      </a:pPr>
                      <a:r>
                        <a:rPr>
                          <a:latin typeface="Courier"/>
                        </a:rPr>
                        <a:t>ruido</a:t>
                      </a:r>
                    </a:p>
                  </a:txBody>
                </a:tc>
                <a:tc>
                  <a:txBody>
                    <a:bodyPr/>
                    <a:lstStyle/>
                    <a:p>
                      <a:pPr lvl="0" indent="0" marL="0">
                        <a:buNone/>
                      </a:pPr>
                      <a:r>
                        <a:rPr/>
                        <a:t>text length below </a:t>
                      </a:r>
                      <a:r>
                        <a:rPr>
                          <a:latin typeface="Courier"/>
                        </a:rPr>
                        <a:t>VERBETE_RUIDO</a:t>
                      </a:r>
                      <a:r>
                        <a:rPr/>
                        <a:t> (30 characters)</a:t>
                      </a:r>
                    </a:p>
                  </a:txBody>
                </a:tc>
              </a:tr>
              <a:tr h="0">
                <a:tc>
                  <a:txBody>
                    <a:bodyPr/>
                    <a:lstStyle/>
                    <a:p>
                      <a:pPr lvl="0" indent="0" marL="0">
                        <a:buNone/>
                      </a:pPr>
                      <a:r>
                        <a:rPr>
                          <a:latin typeface="Courier"/>
                        </a:rPr>
                        <a:t>duplicado</a:t>
                      </a:r>
                    </a:p>
                  </a:txBody>
                </a:tc>
                <a:tc>
                  <a:txBody>
                    <a:bodyPr/>
                    <a:lstStyle/>
                    <a:p>
                      <a:pPr lvl="0" indent="0" marL="0">
                        <a:buNone/>
                      </a:pPr>
                      <a:r>
                        <a:rPr/>
                        <a:t>the body is repeated under more than one code</a:t>
                      </a:r>
                    </a:p>
                  </a:txBody>
                </a:tc>
              </a:tr>
              <a:tr h="0">
                <a:tc>
                  <a:txBody>
                    <a:bodyPr/>
                    <a:lstStyle/>
                    <a:p>
                      <a:pPr lvl="0" indent="0" marL="0">
                        <a:buNone/>
                      </a:pPr>
                      <a:r>
                        <a:rPr>
                          <a:latin typeface="Courier"/>
                        </a:rPr>
                        <a:t>completo</a:t>
                      </a:r>
                    </a:p>
                  </a:txBody>
                </a:tc>
                <a:tc>
                  <a:txBody>
                    <a:bodyPr/>
                    <a:lstStyle/>
                    <a:p>
                      <a:pPr lvl="0" indent="0" marL="0">
                        <a:buNone/>
                      </a:pPr>
                      <a:r>
                        <a:rPr/>
                        <a:t>none of the above</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2.2 Supervised re-labelling</a:t>
            </a:r>
          </a:p>
          <a:p>
            <a:pPr lvl="0" indent="0" marL="0">
              <a:buNone/>
            </a:pPr>
            <a:r>
              <a:rPr/>
              <a:t>A TF-IDF vectoriser (5000 features, 1-2 grams) feeds a Logistic Regression (</a:t>
            </a:r>
            <a:r>
              <a:rPr>
                <a:latin typeface="Courier"/>
              </a:rPr>
              <a:t>class_weight="balanced"</a:t>
            </a:r>
            <a:r>
              <a:rPr/>
              <a:t>) trained on the heuristic labels with an 80/20 stratified split. The fitted classifier then predicts the quality label for every verbete, and the trained vectoriser and classifier are persisted to </a:t>
            </a:r>
            <a:r>
              <a:rPr>
                <a:latin typeface="Courier"/>
              </a:rPr>
              <a:t>models/quality_classifier.joblib</a:t>
            </a:r>
            <a:r>
              <a:rPr/>
              <a:t>.</a:t>
            </a:r>
          </a:p>
          <a:p>
            <a:pPr lvl="0" indent="0" marL="0">
              <a:spcBef>
                <a:spcPts val="3000"/>
              </a:spcBef>
              <a:buNone/>
            </a:pPr>
            <a:r>
              <a:rPr b="1"/>
              <a:t>2.3 Anomaly detection</a:t>
            </a:r>
          </a:p>
          <a:p>
            <a:pPr lvl="0" indent="0" marL="0">
              <a:buNone/>
            </a:pPr>
            <a:r>
              <a:rPr/>
              <a:t>An IsolationForest (200 trees, 5% contamination) is fitted on the 384-dimensional sentence embeddings. Its decision function is rescaled to a 0-1 </a:t>
            </a:r>
            <a:r>
              <a:rPr>
                <a:latin typeface="Courier"/>
              </a:rPr>
              <a:t>anomaly_score</a:t>
            </a:r>
            <a:r>
              <a:rPr/>
              <a:t> (higher is more anomalous) and stored with each verbete.</a:t>
            </a:r>
          </a:p>
          <a:p>
            <a:pPr lvl="0" indent="0" marL="0">
              <a:spcBef>
                <a:spcPts val="3000"/>
              </a:spcBef>
              <a:buNone/>
            </a:pPr>
            <a:r>
              <a:rPr b="1"/>
              <a:t>2.4 How to read the metrics</a:t>
            </a:r>
          </a:p>
          <a:p>
            <a:pPr lvl="0"/>
            <a:r>
              <a:rPr b="1"/>
              <a:t>Precision</a:t>
            </a:r>
            <a:r>
              <a:rPr/>
              <a:t> - of the records the classifier </a:t>
            </a:r>
            <a:r>
              <a:rPr i="1"/>
              <a:t>predicted</a:t>
            </a:r>
            <a:r>
              <a:rPr/>
              <a:t> as a given class, the fraction that truly belong to it; it measures the trustworthiness of a positive prediction.</a:t>
            </a:r>
          </a:p>
          <a:p>
            <a:pPr lvl="0"/>
            <a:r>
              <a:rPr b="1"/>
              <a:t>Recall</a:t>
            </a:r>
            <a:r>
              <a:rPr/>
              <a:t> - of the records that </a:t>
            </a:r>
            <a:r>
              <a:rPr i="1"/>
              <a:t>actually</a:t>
            </a:r>
            <a:r>
              <a:rPr/>
              <a:t> belong to a class, the fraction the classifier found; it measures coverage.</a:t>
            </a:r>
          </a:p>
          <a:p>
            <a:pPr lvl="0"/>
            <a:r>
              <a:rPr b="1"/>
              <a:t>F1</a:t>
            </a:r>
            <a:r>
              <a:rPr/>
              <a:t> - the harmonic mean of precision and recall, a single balanced number.</a:t>
            </a:r>
          </a:p>
          <a:p>
            <a:pPr lvl="0"/>
            <a:r>
              <a:rPr b="1"/>
              <a:t>Accuracy</a:t>
            </a:r>
            <a:r>
              <a:rPr/>
              <a:t> - the fraction of all predictions that are correct; it can be misleading when classes are imbalanced, which is why F1 is also reported.</a:t>
            </a:r>
          </a:p>
          <a:p>
            <a:pPr lvl="0"/>
            <a:r>
              <a:rPr b="1"/>
              <a:t>Macro F1</a:t>
            </a:r>
            <a:r>
              <a:rPr/>
              <a:t> - the average F1 over classes, weighting every class equally, so a tiny class counts as much as a large one; it is low here because </a:t>
            </a:r>
            <a:r>
              <a:rPr>
                <a:latin typeface="Courier"/>
              </a:rPr>
              <a:t>curto</a:t>
            </a:r>
            <a:r>
              <a:rPr/>
              <a:t> scores zero.</a:t>
            </a:r>
          </a:p>
          <a:p>
            <a:pPr lvl="0"/>
            <a:r>
              <a:rPr b="1"/>
              <a:t>Weighted F1</a:t>
            </a:r>
            <a:r>
              <a:rPr/>
              <a:t> - the average F1 weighted by class size, so it is dominated by the large classes. The gap between macro and weighted F1 quantifies how much the tiny classes hurt the average.</a:t>
            </a:r>
          </a:p>
          <a:p>
            <a:pPr lvl="0"/>
            <a:r>
              <a:rPr b="1"/>
              <a:t>Anomaly score</a:t>
            </a:r>
            <a:r>
              <a:rPr/>
              <a:t> - the IsolationForest output rescaled to 0-1, where higher means more unusual relative to the rest of the corpus. It is a </a:t>
            </a:r>
            <a:r>
              <a:rPr i="1"/>
              <a:t>review cue</a:t>
            </a:r>
            <a:r>
              <a:rPr/>
              <a:t>, not a judgment about legal validity.</a:t>
            </a:r>
          </a:p>
          <a:p>
            <a:pPr lvl="0" indent="0" marL="0">
              <a:spcBef>
                <a:spcPts val="3000"/>
              </a:spcBef>
              <a:buNone/>
            </a:pPr>
            <a:r>
              <a:rPr b="1"/>
              <a:t>2.5 Why these methods</a:t>
            </a:r>
          </a:p>
          <a:p>
            <a:pPr lvl="0"/>
            <a:r>
              <a:rPr b="1"/>
              <a:t>TF-IDF + logistic regression</a:t>
            </a:r>
            <a:r>
              <a:rPr/>
              <a:t> was chosen because it is fast, interpretable (you can inspect the learned word weights) and strong on this scale of data; a heavier model would be harder to justify with heuristic labels.</a:t>
            </a:r>
          </a:p>
          <a:p>
            <a:pPr lvl="0"/>
            <a:r>
              <a:rPr b="1"/>
              <a:t>IsolationForest</a:t>
            </a:r>
            <a:r>
              <a:rPr/>
              <a:t> is unsupervised, so it can flag novelty without any labels, complementing the supervised classifier.</a:t>
            </a:r>
          </a:p>
          <a:p>
            <a:pPr lvl="0"/>
            <a:r>
              <a:rPr b="1"/>
              <a:t>UMAP + HDBSCAN</a:t>
            </a:r>
            <a:r>
              <a:rPr/>
              <a:t> were chosen over PCA + k-means because UMAP preserves local neighbourhoods for visualisation, and HDBSCAN needs no preset number of clusters and marks outliers as noise.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3. Quality label distribution</a:t>
            </a:r>
          </a:p>
        </p:txBody>
      </p:sp>
      <p:pic>
        <p:nvPicPr>
          <p:cNvPr descr="figures/fig_quality_labels.png" id="0" name="Picture 1"/>
          <p:cNvPicPr>
            <a:picLocks noGrp="1" noChangeAspect="1"/>
          </p:cNvPicPr>
          <p:nvPr/>
        </p:nvPicPr>
        <p:blipFill>
          <a:blip r:embed="rId2"/>
          <a:stretch>
            <a:fillRect/>
          </a:stretch>
        </p:blipFill>
        <p:spPr bwMode="auto">
          <a:xfrm>
            <a:off x="457200" y="1727200"/>
            <a:ext cx="2997200" cy="1689100"/>
          </a:xfrm>
          <a:prstGeom prst="rect">
            <a:avLst/>
          </a:prstGeom>
          <a:noFill/>
          <a:ln w="9525">
            <a:noFill/>
            <a:headEnd/>
            <a:tailEnd/>
          </a:ln>
        </p:spPr>
      </p:pic>
      <p:sp>
        <p:nvSpPr>
          <p:cNvPr id="1" name="TextBox 3"/>
          <p:cNvSpPr txBox="1"/>
          <p:nvPr/>
        </p:nvSpPr>
        <p:spPr>
          <a:xfrm>
            <a:off x="457200" y="4076700"/>
            <a:ext cx="2997200" cy="508000"/>
          </a:xfrm>
          <a:prstGeom prst="rect">
            <a:avLst/>
          </a:prstGeom>
          <a:noFill/>
        </p:spPr>
        <p:txBody>
          <a:bodyPr/>
          <a:lstStyle/>
          <a:p>
            <a:pPr lvl="0" indent="0" marL="0" algn="ctr">
              <a:buNone/>
            </a:pPr>
            <a:r>
              <a:rPr/>
              <a:t>Heuristic versus predicted quality labels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Label</a:t>
                      </a:r>
                    </a:p>
                  </a:txBody>
                  <a:tcPr/>
                </a:tc>
                <a:tc>
                  <a:txBody>
                    <a:bodyPr/>
                    <a:lstStyle/>
                    <a:p>
                      <a:pPr lvl="0" indent="0" marL="0">
                        <a:buNone/>
                      </a:pPr>
                      <a:r>
                        <a:rPr/>
                        <a:t>Heuristic</a:t>
                      </a:r>
                    </a:p>
                  </a:txBody>
                  <a:tcPr/>
                </a:tc>
                <a:tc>
                  <a:txBody>
                    <a:bodyPr/>
                    <a:lstStyle/>
                    <a:p>
                      <a:pPr lvl="0" indent="0" marL="0">
                        <a:buNone/>
                      </a:pPr>
                      <a:r>
                        <a:rPr/>
                        <a:t>Predicted</a:t>
                      </a:r>
                    </a:p>
                  </a:txBody>
                  <a:tcPr/>
                </a:tc>
              </a:tr>
              <a:tr h="0">
                <a:tc>
                  <a:txBody>
                    <a:bodyPr/>
                    <a:lstStyle/>
                    <a:p>
                      <a:pPr lvl="0" indent="0" marL="0">
                        <a:buNone/>
                      </a:pPr>
                      <a:r>
                        <a:rPr/>
                        <a:t>completo</a:t>
                      </a:r>
                    </a:p>
                  </a:txBody>
                </a:tc>
                <a:tc>
                  <a:txBody>
                    <a:bodyPr/>
                    <a:lstStyle/>
                    <a:p>
                      <a:pPr lvl="0" indent="0" marL="0">
                        <a:buNone/>
                      </a:pPr>
                      <a:r>
                        <a:rPr/>
                        <a:t>625</a:t>
                      </a:r>
                    </a:p>
                  </a:txBody>
                </a:tc>
                <a:tc>
                  <a:txBody>
                    <a:bodyPr/>
                    <a:lstStyle/>
                    <a:p>
                      <a:pPr lvl="0" indent="0" marL="0">
                        <a:buNone/>
                      </a:pPr>
                      <a:r>
                        <a:rPr/>
                        <a:t>694</a:t>
                      </a:r>
                    </a:p>
                  </a:txBody>
                </a:tc>
              </a:tr>
              <a:tr h="0">
                <a:tc>
                  <a:txBody>
                    <a:bodyPr/>
                    <a:lstStyle/>
                    <a:p>
                      <a:pPr lvl="0" indent="0" marL="0">
                        <a:buNone/>
                      </a:pPr>
                      <a:r>
                        <a:rPr/>
                        <a:t>cancelado</a:t>
                      </a:r>
                    </a:p>
                  </a:txBody>
                </a:tc>
                <a:tc>
                  <a:txBody>
                    <a:bodyPr/>
                    <a:lstStyle/>
                    <a:p>
                      <a:pPr lvl="0" indent="0" marL="0">
                        <a:buNone/>
                      </a:pPr>
                      <a:r>
                        <a:rPr/>
                        <a:t>405</a:t>
                      </a:r>
                    </a:p>
                  </a:txBody>
                </a:tc>
                <a:tc>
                  <a:txBody>
                    <a:bodyPr/>
                    <a:lstStyle/>
                    <a:p>
                      <a:pPr lvl="0" indent="0" marL="0">
                        <a:buNone/>
                      </a:pPr>
                      <a:r>
                        <a:rPr/>
                        <a:t>334</a:t>
                      </a:r>
                    </a:p>
                  </a:txBody>
                </a:tc>
              </a:tr>
              <a:tr h="0">
                <a:tc>
                  <a:txBody>
                    <a:bodyPr/>
                    <a:lstStyle/>
                    <a:p>
                      <a:pPr lvl="0" indent="0" marL="0">
                        <a:buNone/>
                      </a:pPr>
                      <a:r>
                        <a:rPr/>
                        <a:t>curto</a:t>
                      </a:r>
                    </a:p>
                  </a:txBody>
                </a:tc>
                <a:tc>
                  <a:txBody>
                    <a:bodyPr/>
                    <a:lstStyle/>
                    <a:p>
                      <a:pPr lvl="0" indent="0" marL="0">
                        <a:buNone/>
                      </a:pPr>
                      <a:r>
                        <a:rPr/>
                        <a:t>26</a:t>
                      </a:r>
                    </a:p>
                  </a:txBody>
                </a:tc>
                <a:tc>
                  <a:txBody>
                    <a:bodyPr/>
                    <a:lstStyle/>
                    <a:p>
                      <a:pPr lvl="0" indent="0" marL="0">
                        <a:buNone/>
                      </a:pPr>
                      <a:r>
                        <a:rPr/>
                        <a:t>27</a:t>
                      </a:r>
                    </a:p>
                  </a:txBody>
                </a:tc>
              </a:tr>
              <a:tr h="0">
                <a:tc>
                  <a:txBody>
                    <a:bodyPr/>
                    <a:lstStyle/>
                    <a:p>
                      <a:pPr lvl="0" indent="0" marL="0">
                        <a:buNone/>
                      </a:pPr>
                      <a:r>
                        <a:rPr/>
                        <a:t>duplicado</a:t>
                      </a:r>
                    </a:p>
                  </a:txBody>
                </a:tc>
                <a:tc>
                  <a:txBody>
                    <a:bodyPr/>
                    <a:lstStyle/>
                    <a:p>
                      <a:pPr lvl="0" indent="0" marL="0">
                        <a:buNone/>
                      </a:pPr>
                      <a:r>
                        <a:rPr/>
                        <a:t>2</a:t>
                      </a:r>
                    </a:p>
                  </a:txBody>
                </a:tc>
                <a:tc>
                  <a:txBody>
                    <a:bodyPr/>
                    <a:lstStyle/>
                    <a:p>
                      <a:pPr lvl="0" indent="0" marL="0">
                        <a:buNone/>
                      </a:pPr>
                      <a:r>
                        <a:rPr/>
                        <a:t>3</a:t>
                      </a:r>
                    </a:p>
                  </a:txBody>
                </a:tc>
              </a:tr>
              <a:tr h="0">
                <a:tc>
                  <a:txBody>
                    <a:bodyPr/>
                    <a:lstStyle/>
                    <a:p>
                      <a:pPr lvl="0" indent="0" marL="0">
                        <a:buNone/>
                      </a:pPr>
                      <a:r>
                        <a:rPr b="1"/>
                        <a:t>Total</a:t>
                      </a:r>
                    </a:p>
                  </a:txBody>
                </a:tc>
                <a:tc>
                  <a:txBody>
                    <a:bodyPr/>
                    <a:lstStyle/>
                    <a:p>
                      <a:pPr lvl="0" indent="0" marL="0">
                        <a:buNone/>
                      </a:pPr>
                      <a:r>
                        <a:rPr b="1"/>
                        <a:t>1058</a:t>
                      </a:r>
                    </a:p>
                  </a:txBody>
                </a:tc>
                <a:tc>
                  <a:txBody>
                    <a:bodyPr/>
                    <a:lstStyle/>
                    <a:p>
                      <a:pPr lvl="0" indent="0" marL="0">
                        <a:buNone/>
                      </a:pPr>
                      <a:r>
                        <a:rPr b="1"/>
                        <a:t>1058</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classifier moves 71 documents from </a:t>
            </a:r>
            <a:r>
              <a:rPr>
                <a:latin typeface="Courier"/>
              </a:rPr>
              <a:t>cancelado</a:t>
            </a:r>
            <a:r>
              <a:rPr/>
              <a:t> to </a:t>
            </a:r>
            <a:r>
              <a:rPr>
                <a:latin typeface="Courier"/>
              </a:rPr>
              <a:t>completo</a:t>
            </a:r>
            <a:r>
              <a:rPr/>
              <a:t> and reassigns a handful of short entries, reflecting the fact that the lexical cancellation marker is not always a reliable indicator of an actually cancelled record.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Classifier evaluation</a:t>
            </a:r>
          </a:p>
        </p:txBody>
      </p:sp>
      <p:sp>
        <p:nvSpPr>
          <p:cNvPr id="4" name="Text Placeholder 3"/>
          <p:cNvSpPr>
            <a:spLocks noGrp="1"/>
          </p:cNvSpPr>
          <p:nvPr>
            <p:ph idx="2" sz="half" type="body"/>
          </p:nvPr>
        </p:nvSpPr>
        <p:spPr/>
        <p:txBody>
          <a:bodyPr/>
          <a:lstStyle/>
          <a:p>
            <a:pPr lvl="0" indent="0" marL="0">
              <a:buNone/>
            </a:pPr>
            <a:r>
              <a:rPr/>
              <a:t>Held-out test split: 212 documents (846 for training).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Metric</a:t>
                      </a:r>
                    </a:p>
                  </a:txBody>
                  <a:tcPr/>
                </a:tc>
                <a:tc>
                  <a:txBody>
                    <a:bodyPr/>
                    <a:lstStyle/>
                    <a:p>
                      <a:pPr lvl="0" indent="0" marL="0">
                        <a:buNone/>
                      </a:pPr>
                      <a:r>
                        <a:rPr/>
                        <a:t>Value</a:t>
                      </a:r>
                    </a:p>
                  </a:txBody>
                  <a:tcPr/>
                </a:tc>
              </a:tr>
              <a:tr h="0">
                <a:tc>
                  <a:txBody>
                    <a:bodyPr/>
                    <a:lstStyle/>
                    <a:p>
                      <a:pPr lvl="0" indent="0" marL="0">
                        <a:buNone/>
                      </a:pPr>
                      <a:r>
                        <a:rPr/>
                        <a:t>Accuracy</a:t>
                      </a:r>
                    </a:p>
                  </a:txBody>
                </a:tc>
                <a:tc>
                  <a:txBody>
                    <a:bodyPr/>
                    <a:lstStyle/>
                    <a:p>
                      <a:pPr lvl="0" indent="0" marL="0">
                        <a:buNone/>
                      </a:pPr>
                      <a:r>
                        <a:rPr/>
                        <a:t>0.906</a:t>
                      </a:r>
                    </a:p>
                  </a:txBody>
                </a:tc>
              </a:tr>
              <a:tr h="0">
                <a:tc>
                  <a:txBody>
                    <a:bodyPr/>
                    <a:lstStyle/>
                    <a:p>
                      <a:pPr lvl="0" indent="0" marL="0">
                        <a:buNone/>
                      </a:pPr>
                      <a:r>
                        <a:rPr/>
                        <a:t>F1 (macro)</a:t>
                      </a:r>
                    </a:p>
                  </a:txBody>
                </a:tc>
                <a:tc>
                  <a:txBody>
                    <a:bodyPr/>
                    <a:lstStyle/>
                    <a:p>
                      <a:pPr lvl="0" indent="0" marL="0">
                        <a:buNone/>
                      </a:pPr>
                      <a:r>
                        <a:rPr/>
                        <a:t>0.708</a:t>
                      </a:r>
                    </a:p>
                  </a:txBody>
                </a:tc>
              </a:tr>
              <a:tr h="0">
                <a:tc>
                  <a:txBody>
                    <a:bodyPr/>
                    <a:lstStyle/>
                    <a:p>
                      <a:pPr lvl="0" indent="0" marL="0">
                        <a:buNone/>
                      </a:pPr>
                      <a:r>
                        <a:rPr/>
                        <a:t>F1 (weighted)</a:t>
                      </a:r>
                    </a:p>
                  </a:txBody>
                </a:tc>
                <a:tc>
                  <a:txBody>
                    <a:bodyPr/>
                    <a:lstStyle/>
                    <a:p>
                      <a:pPr lvl="0" indent="0" marL="0">
                        <a:buNone/>
                      </a:pPr>
                      <a:r>
                        <a:rPr/>
                        <a:t>0.896</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Per-class results: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Class</a:t>
                      </a:r>
                    </a:p>
                  </a:txBody>
                  <a:tcPr/>
                </a:tc>
                <a:tc>
                  <a:txBody>
                    <a:bodyPr/>
                    <a:lstStyle/>
                    <a:p>
                      <a:pPr lvl="0" indent="0" marL="0">
                        <a:buNone/>
                      </a:pPr>
                      <a:r>
                        <a:rPr/>
                        <a:t>Precision</a:t>
                      </a:r>
                    </a:p>
                  </a:txBody>
                  <a:tcPr/>
                </a:tc>
                <a:tc>
                  <a:txBody>
                    <a:bodyPr/>
                    <a:lstStyle/>
                    <a:p>
                      <a:pPr lvl="0" indent="0" marL="0">
                        <a:buNone/>
                      </a:pPr>
                      <a:r>
                        <a:rPr/>
                        <a:t>Recall</a:t>
                      </a:r>
                    </a:p>
                  </a:txBody>
                  <a:tcPr/>
                </a:tc>
                <a:tc>
                  <a:txBody>
                    <a:bodyPr/>
                    <a:lstStyle/>
                    <a:p>
                      <a:pPr lvl="0" indent="0" marL="0">
                        <a:buNone/>
                      </a:pPr>
                      <a:r>
                        <a:rPr/>
                        <a:t>F1</a:t>
                      </a:r>
                    </a:p>
                  </a:txBody>
                  <a:tcPr/>
                </a:tc>
                <a:tc>
                  <a:txBody>
                    <a:bodyPr/>
                    <a:lstStyle/>
                    <a:p>
                      <a:pPr lvl="0" indent="0" marL="0">
                        <a:buNone/>
                      </a:pPr>
                      <a:r>
                        <a:rPr/>
                        <a:t>Support</a:t>
                      </a:r>
                    </a:p>
                  </a:txBody>
                  <a:tcPr/>
                </a:tc>
              </a:tr>
              <a:tr h="0">
                <a:tc>
                  <a:txBody>
                    <a:bodyPr/>
                    <a:lstStyle/>
                    <a:p>
                      <a:pPr lvl="0" indent="0" marL="0">
                        <a:buNone/>
                      </a:pPr>
                      <a:r>
                        <a:rPr/>
                        <a:t>cancelado</a:t>
                      </a:r>
                    </a:p>
                  </a:txBody>
                </a:tc>
                <a:tc>
                  <a:txBody>
                    <a:bodyPr/>
                    <a:lstStyle/>
                    <a:p>
                      <a:pPr lvl="0" indent="0" marL="0">
                        <a:buNone/>
                      </a:pPr>
                      <a:r>
                        <a:rPr/>
                        <a:t>0.99</a:t>
                      </a:r>
                    </a:p>
                  </a:txBody>
                </a:tc>
                <a:tc>
                  <a:txBody>
                    <a:bodyPr/>
                    <a:lstStyle/>
                    <a:p>
                      <a:pPr lvl="0" indent="0" marL="0">
                        <a:buNone/>
                      </a:pPr>
                      <a:r>
                        <a:rPr/>
                        <a:t>0.84</a:t>
                      </a:r>
                    </a:p>
                  </a:txBody>
                </a:tc>
                <a:tc>
                  <a:txBody>
                    <a:bodyPr/>
                    <a:lstStyle/>
                    <a:p>
                      <a:pPr lvl="0" indent="0" marL="0">
                        <a:buNone/>
                      </a:pPr>
                      <a:r>
                        <a:rPr/>
                        <a:t>0.91</a:t>
                      </a:r>
                    </a:p>
                  </a:txBody>
                </a:tc>
                <a:tc>
                  <a:txBody>
                    <a:bodyPr/>
                    <a:lstStyle/>
                    <a:p>
                      <a:pPr lvl="0" indent="0" marL="0">
                        <a:buNone/>
                      </a:pPr>
                      <a:r>
                        <a:rPr/>
                        <a:t>81</a:t>
                      </a:r>
                    </a:p>
                  </a:txBody>
                </a:tc>
              </a:tr>
              <a:tr h="0">
                <a:tc>
                  <a:txBody>
                    <a:bodyPr/>
                    <a:lstStyle/>
                    <a:p>
                      <a:pPr lvl="0" indent="0" marL="0">
                        <a:buNone/>
                      </a:pPr>
                      <a:r>
                        <a:rPr/>
                        <a:t>completo</a:t>
                      </a:r>
                    </a:p>
                  </a:txBody>
                </a:tc>
                <a:tc>
                  <a:txBody>
                    <a:bodyPr/>
                    <a:lstStyle/>
                    <a:p>
                      <a:pPr lvl="0" indent="0" marL="0">
                        <a:buNone/>
                      </a:pPr>
                      <a:r>
                        <a:rPr/>
                        <a:t>0.87</a:t>
                      </a:r>
                    </a:p>
                  </a:txBody>
                </a:tc>
                <a:tc>
                  <a:txBody>
                    <a:bodyPr/>
                    <a:lstStyle/>
                    <a:p>
                      <a:pPr lvl="0" indent="0" marL="0">
                        <a:buNone/>
                      </a:pPr>
                      <a:r>
                        <a:rPr/>
                        <a:t>0.98</a:t>
                      </a:r>
                    </a:p>
                  </a:txBody>
                </a:tc>
                <a:tc>
                  <a:txBody>
                    <a:bodyPr/>
                    <a:lstStyle/>
                    <a:p>
                      <a:pPr lvl="0" indent="0" marL="0">
                        <a:buNone/>
                      </a:pPr>
                      <a:r>
                        <a:rPr/>
                        <a:t>0.92</a:t>
                      </a:r>
                    </a:p>
                  </a:txBody>
                </a:tc>
                <a:tc>
                  <a:txBody>
                    <a:bodyPr/>
                    <a:lstStyle/>
                    <a:p>
                      <a:pPr lvl="0" indent="0" marL="0">
                        <a:buNone/>
                      </a:pPr>
                      <a:r>
                        <a:rPr/>
                        <a:t>125</a:t>
                      </a:r>
                    </a:p>
                  </a:txBody>
                </a:tc>
              </a:tr>
              <a:tr h="0">
                <a:tc>
                  <a:txBody>
                    <a:bodyPr/>
                    <a:lstStyle/>
                    <a:p>
                      <a:pPr lvl="0" indent="0" marL="0">
                        <a:buNone/>
                      </a:pPr>
                      <a:r>
                        <a:rPr/>
                        <a:t>curto</a:t>
                      </a:r>
                    </a:p>
                  </a:txBody>
                </a:tc>
                <a:tc>
                  <a:txBody>
                    <a:bodyPr/>
                    <a:lstStyle/>
                    <a:p>
                      <a:pPr lvl="0" indent="0" marL="0">
                        <a:buNone/>
                      </a:pPr>
                      <a:r>
                        <a:rPr/>
                        <a:t>0.00</a:t>
                      </a:r>
                    </a:p>
                  </a:txBody>
                </a:tc>
                <a:tc>
                  <a:txBody>
                    <a:bodyPr/>
                    <a:lstStyle/>
                    <a:p>
                      <a:pPr lvl="0" indent="0" marL="0">
                        <a:buNone/>
                      </a:pPr>
                      <a:r>
                        <a:rPr/>
                        <a:t>0.00</a:t>
                      </a:r>
                    </a:p>
                  </a:txBody>
                </a:tc>
                <a:tc>
                  <a:txBody>
                    <a:bodyPr/>
                    <a:lstStyle/>
                    <a:p>
                      <a:pPr lvl="0" indent="0" marL="0">
                        <a:buNone/>
                      </a:pPr>
                      <a:r>
                        <a:rPr/>
                        <a:t>0.00</a:t>
                      </a:r>
                    </a:p>
                  </a:txBody>
                </a:tc>
                <a:tc>
                  <a:txBody>
                    <a:bodyPr/>
                    <a:lstStyle/>
                    <a:p>
                      <a:pPr lvl="0" indent="0" marL="0">
                        <a:buNone/>
                      </a:pPr>
                      <a:r>
                        <a:rPr/>
                        <a:t>5</a:t>
                      </a:r>
                    </a:p>
                  </a:txBody>
                </a:tc>
              </a:tr>
              <a:tr h="0">
                <a:tc>
                  <a:txBody>
                    <a:bodyPr/>
                    <a:lstStyle/>
                    <a:p>
                      <a:pPr lvl="0" indent="0" marL="0">
                        <a:buNone/>
                      </a:pPr>
                      <a:r>
                        <a:rPr/>
                        <a:t>duplicado</a:t>
                      </a:r>
                    </a:p>
                  </a:txBody>
                </a:tc>
                <a:tc>
                  <a:txBody>
                    <a:bodyPr/>
                    <a:lstStyle/>
                    <a:p>
                      <a:pPr lvl="0" indent="0" marL="0">
                        <a:buNone/>
                      </a:pPr>
                      <a:r>
                        <a:rPr/>
                        <a:t>1.00</a:t>
                      </a:r>
                    </a:p>
                  </a:txBody>
                </a:tc>
                <a:tc>
                  <a:txBody>
                    <a:bodyPr/>
                    <a:lstStyle/>
                    <a:p>
                      <a:pPr lvl="0" indent="0" marL="0">
                        <a:buNone/>
                      </a:pPr>
                      <a:r>
                        <a:rPr/>
                        <a:t>1.00</a:t>
                      </a:r>
                    </a:p>
                  </a:txBody>
                </a:tc>
                <a:tc>
                  <a:txBody>
                    <a:bodyPr/>
                    <a:lstStyle/>
                    <a:p>
                      <a:pPr lvl="0" indent="0" marL="0">
                        <a:buNone/>
                      </a:pPr>
                      <a:r>
                        <a:rPr/>
                        <a:t>1.00</a:t>
                      </a:r>
                    </a:p>
                  </a:txBody>
                </a:tc>
                <a:tc>
                  <a:txBody>
                    <a:bodyPr/>
                    <a:lstStyle/>
                    <a:p>
                      <a:pPr lvl="0" indent="0" marL="0">
                        <a:buNone/>
                      </a:pPr>
                      <a:r>
                        <a:rPr/>
                        <a:t>1</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two dominant classes (</a:t>
            </a:r>
            <a:r>
              <a:rPr>
                <a:latin typeface="Courier"/>
              </a:rPr>
              <a:t>completo</a:t>
            </a:r>
            <a:r>
              <a:rPr/>
              <a:t>, </a:t>
            </a:r>
            <a:r>
              <a:rPr>
                <a:latin typeface="Courier"/>
              </a:rPr>
              <a:t>cancelado</a:t>
            </a:r>
            <a:r>
              <a:rPr/>
              <a:t>) are classified reliably. The </a:t>
            </a:r>
            <a:r>
              <a:rPr>
                <a:latin typeface="Courier"/>
              </a:rPr>
              <a:t>curto</a:t>
            </a:r>
            <a:r>
              <a:rPr/>
              <a:t> class is too small to be learned and is always missed, which drags the macro F1 down; in practice short records are still surfaced by the length rule at ingestion and by the anomaly score.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5. Anomaly detection</a:t>
            </a:r>
          </a:p>
        </p:txBody>
      </p:sp>
      <p:pic>
        <p:nvPicPr>
          <p:cNvPr descr="figures/fig_anomaly_scores.png" id="0" name="Picture 1"/>
          <p:cNvPicPr>
            <a:picLocks noGrp="1" noChangeAspect="1"/>
          </p:cNvPicPr>
          <p:nvPr/>
        </p:nvPicPr>
        <p:blipFill>
          <a:blip r:embed="rId2"/>
          <a:stretch>
            <a:fillRect/>
          </a:stretch>
        </p:blipFill>
        <p:spPr bwMode="auto">
          <a:xfrm>
            <a:off x="457200" y="1727200"/>
            <a:ext cx="2997200" cy="1689100"/>
          </a:xfrm>
          <a:prstGeom prst="rect">
            <a:avLst/>
          </a:prstGeom>
          <a:noFill/>
          <a:ln w="9525">
            <a:noFill/>
            <a:headEnd/>
            <a:tailEnd/>
          </a:ln>
        </p:spPr>
      </p:pic>
      <p:sp>
        <p:nvSpPr>
          <p:cNvPr id="1" name="TextBox 3"/>
          <p:cNvSpPr txBox="1"/>
          <p:nvPr/>
        </p:nvSpPr>
        <p:spPr>
          <a:xfrm>
            <a:off x="457200" y="4076700"/>
            <a:ext cx="2997200" cy="508000"/>
          </a:xfrm>
          <a:prstGeom prst="rect">
            <a:avLst/>
          </a:prstGeom>
          <a:noFill/>
        </p:spPr>
        <p:txBody>
          <a:bodyPr/>
          <a:lstStyle/>
          <a:p>
            <a:pPr lvl="0" indent="0" marL="0" algn="ctr">
              <a:buNone/>
            </a:pPr>
            <a:r>
              <a:rPr/>
              <a:t>IsolationForest anomaly score distribution</a:t>
            </a:r>
          </a:p>
        </p:txBody>
      </p:sp>
      <p:sp>
        <p:nvSpPr>
          <p:cNvPr id="4" name="Text Placeholder 3"/>
          <p:cNvSpPr>
            <a:spLocks noGrp="1"/>
          </p:cNvSpPr>
          <p:nvPr>
            <p:ph idx="2" sz="half" type="body"/>
          </p:nvPr>
        </p:nvSpPr>
        <p:spPr/>
        <p:txBody>
          <a:bodyPr/>
          <a:lstStyle/>
          <a:p>
            <a:pPr lvl="0"/>
            <a:r>
              <a:rPr/>
              <a:t>Mean anomaly score: 0.382.</a:t>
            </a:r>
          </a:p>
          <a:p>
            <a:pPr lvl="0"/>
            <a:r>
              <a:rPr/>
              <a:t>Documents above the 0.7 review threshold: </a:t>
            </a:r>
            <a:r>
              <a:rPr b="1"/>
              <a:t>47 (4.4% of the corpus)</a:t>
            </a:r>
            <a:r>
              <a:rPr/>
              <a:t>.</a:t>
            </a:r>
          </a:p>
          <a:p>
            <a:pPr lvl="0" indent="0" marL="0">
              <a:buNone/>
            </a:pPr>
            <a:r>
              <a:rPr/>
              <a:t>The top flagged records concentrate on historical Precedentes Normativos about rural work, whose vocabulary differs sharply from the modern Súmulas and OJs. The ten highest-scoring documents are: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doc_id</a:t>
                      </a:r>
                    </a:p>
                  </a:txBody>
                  <a:tcPr/>
                </a:tc>
                <a:tc>
                  <a:txBody>
                    <a:bodyPr/>
                    <a:lstStyle/>
                    <a:p>
                      <a:pPr lvl="0" indent="0" marL="0">
                        <a:buNone/>
                      </a:pPr>
                      <a:r>
                        <a:rPr/>
                        <a:t>tipo</a:t>
                      </a:r>
                    </a:p>
                  </a:txBody>
                  <a:tcPr/>
                </a:tc>
                <a:tc>
                  <a:txBody>
                    <a:bodyPr/>
                    <a:lstStyle/>
                    <a:p>
                      <a:pPr lvl="0" indent="0" marL="0">
                        <a:buNone/>
                      </a:pPr>
                      <a:r>
                        <a:rPr/>
                        <a:t>orgao</a:t>
                      </a:r>
                    </a:p>
                  </a:txBody>
                  <a:tcPr/>
                </a:tc>
                <a:tc>
                  <a:txBody>
                    <a:bodyPr/>
                    <a:lstStyle/>
                    <a:p>
                      <a:pPr lvl="0" indent="0" marL="0">
                        <a:buNone/>
                      </a:pPr>
                      <a:r>
                        <a:rPr/>
                        <a:t>quality</a:t>
                      </a:r>
                    </a:p>
                  </a:txBody>
                  <a:tcPr/>
                </a:tc>
                <a:tc>
                  <a:txBody>
                    <a:bodyPr/>
                    <a:lstStyle/>
                    <a:p>
                      <a:pPr lvl="0" indent="0" marL="0">
                        <a:buNone/>
                      </a:pPr>
                      <a:r>
                        <a:rPr/>
                        <a:t>score</a:t>
                      </a:r>
                    </a:p>
                  </a:txBody>
                  <a:tcPr/>
                </a:tc>
              </a:tr>
              <a:tr h="0">
                <a:tc>
                  <a:txBody>
                    <a:bodyPr/>
                    <a:lstStyle/>
                    <a:p>
                      <a:pPr lvl="0" indent="0" marL="0">
                        <a:buNone/>
                      </a:pPr>
                      <a:r>
                        <a:rPr/>
                        <a:t>precedente_106</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1.000</a:t>
                      </a:r>
                    </a:p>
                  </a:txBody>
                </a:tc>
              </a:tr>
              <a:tr h="0">
                <a:tc>
                  <a:txBody>
                    <a:bodyPr/>
                    <a:lstStyle/>
                    <a:p>
                      <a:pPr lvl="0" indent="0" marL="0">
                        <a:buNone/>
                      </a:pPr>
                      <a:r>
                        <a:rPr/>
                        <a:t>precedente_63</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0.949</a:t>
                      </a:r>
                    </a:p>
                  </a:txBody>
                </a:tc>
              </a:tr>
              <a:tr h="0">
                <a:tc>
                  <a:txBody>
                    <a:bodyPr/>
                    <a:lstStyle/>
                    <a:p>
                      <a:pPr lvl="0" indent="0" marL="0">
                        <a:buNone/>
                      </a:pPr>
                      <a:r>
                        <a:rPr/>
                        <a:t>precedente_107</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0.936</a:t>
                      </a:r>
                    </a:p>
                  </a:txBody>
                </a:tc>
              </a:tr>
              <a:tr h="0">
                <a:tc>
                  <a:txBody>
                    <a:bodyPr/>
                    <a:lstStyle/>
                    <a:p>
                      <a:pPr lvl="0" indent="0" marL="0">
                        <a:buNone/>
                      </a:pPr>
                      <a:r>
                        <a:rPr/>
                        <a:t>precedente_60</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0.896</a:t>
                      </a:r>
                    </a:p>
                  </a:txBody>
                </a:tc>
              </a:tr>
              <a:tr h="0">
                <a:tc>
                  <a:txBody>
                    <a:bodyPr/>
                    <a:lstStyle/>
                    <a:p>
                      <a:pPr lvl="0" indent="0" marL="0">
                        <a:buNone/>
                      </a:pPr>
                      <a:r>
                        <a:rPr/>
                        <a:t>oj_sbdi-1_252</a:t>
                      </a:r>
                    </a:p>
                  </a:txBody>
                </a:tc>
                <a:tc>
                  <a:txBody>
                    <a:bodyPr/>
                    <a:lstStyle/>
                    <a:p>
                      <a:pPr lvl="0" indent="0" marL="0">
                        <a:buNone/>
                      </a:pPr>
                      <a:r>
                        <a:rPr/>
                        <a:t>oj</a:t>
                      </a:r>
                    </a:p>
                  </a:txBody>
                </a:tc>
                <a:tc>
                  <a:txBody>
                    <a:bodyPr/>
                    <a:lstStyle/>
                    <a:p>
                      <a:pPr lvl="0" indent="0" marL="0">
                        <a:buNone/>
                      </a:pPr>
                      <a:r>
                        <a:rPr/>
                        <a:t>SBDI-1</a:t>
                      </a:r>
                    </a:p>
                  </a:txBody>
                </a:tc>
                <a:tc>
                  <a:txBody>
                    <a:bodyPr/>
                    <a:lstStyle/>
                    <a:p>
                      <a:pPr lvl="0" indent="0" marL="0">
                        <a:buNone/>
                      </a:pPr>
                      <a:r>
                        <a:rPr/>
                        <a:t>cancelado</a:t>
                      </a:r>
                    </a:p>
                  </a:txBody>
                </a:tc>
                <a:tc>
                  <a:txBody>
                    <a:bodyPr/>
                    <a:lstStyle/>
                    <a:p>
                      <a:pPr lvl="0" indent="0" marL="0">
                        <a:buNone/>
                      </a:pPr>
                      <a:r>
                        <a:rPr/>
                        <a:t>0.864</a:t>
                      </a:r>
                    </a:p>
                  </a:txBody>
                </a:tc>
              </a:tr>
              <a:tr h="0">
                <a:tc>
                  <a:txBody>
                    <a:bodyPr/>
                    <a:lstStyle/>
                    <a:p>
                      <a:pPr lvl="0" indent="0" marL="0">
                        <a:buNone/>
                      </a:pPr>
                      <a:r>
                        <a:rPr/>
                        <a:t>precedente_115</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0.852</a:t>
                      </a:r>
                    </a:p>
                  </a:txBody>
                </a:tc>
              </a:tr>
              <a:tr h="0">
                <a:tc>
                  <a:txBody>
                    <a:bodyPr/>
                    <a:lstStyle/>
                    <a:p>
                      <a:pPr lvl="0" indent="0" marL="0">
                        <a:buNone/>
                      </a:pPr>
                      <a:r>
                        <a:rPr/>
                        <a:t>sumula_83</a:t>
                      </a:r>
                    </a:p>
                  </a:txBody>
                </a:tc>
                <a:tc>
                  <a:txBody>
                    <a:bodyPr/>
                    <a:lstStyle/>
                    <a:p>
                      <a:pPr lvl="0" indent="0" marL="0">
                        <a:buNone/>
                      </a:pPr>
                      <a:r>
                        <a:rPr/>
                        <a:t>sumula</a:t>
                      </a:r>
                    </a:p>
                  </a:txBody>
                </a:tc>
                <a:tc>
                  <a:txBody>
                    <a:bodyPr/>
                    <a:lstStyle/>
                    <a:p>
                      <a:pPr lvl="0" indent="0" marL="0">
                        <a:buNone/>
                      </a:pPr>
                      <a:r>
                        <a:rPr/>
                        <a:t>TST</a:t>
                      </a:r>
                    </a:p>
                  </a:txBody>
                </a:tc>
                <a:tc>
                  <a:txBody>
                    <a:bodyPr/>
                    <a:lstStyle/>
                    <a:p>
                      <a:pPr lvl="0" indent="0" marL="0">
                        <a:buNone/>
                      </a:pPr>
                      <a:r>
                        <a:rPr/>
                        <a:t>cancelado</a:t>
                      </a:r>
                    </a:p>
                  </a:txBody>
                </a:tc>
                <a:tc>
                  <a:txBody>
                    <a:bodyPr/>
                    <a:lstStyle/>
                    <a:p>
                      <a:pPr lvl="0" indent="0" marL="0">
                        <a:buNone/>
                      </a:pPr>
                      <a:r>
                        <a:rPr/>
                        <a:t>0.829</a:t>
                      </a:r>
                    </a:p>
                  </a:txBody>
                </a:tc>
              </a:tr>
              <a:tr h="0">
                <a:tc>
                  <a:txBody>
                    <a:bodyPr/>
                    <a:lstStyle/>
                    <a:p>
                      <a:pPr lvl="0" indent="0" marL="0">
                        <a:buNone/>
                      </a:pPr>
                      <a:r>
                        <a:rPr/>
                        <a:t>precedente_22</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0.824</a:t>
                      </a:r>
                    </a:p>
                  </a:txBody>
                </a:tc>
              </a:tr>
              <a:tr h="0">
                <a:tc>
                  <a:txBody>
                    <a:bodyPr/>
                    <a:lstStyle/>
                    <a:p>
                      <a:pPr lvl="0" indent="0" marL="0">
                        <a:buNone/>
                      </a:pPr>
                      <a:r>
                        <a:rPr/>
                        <a:t>precedente_62</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completo</a:t>
                      </a:r>
                    </a:p>
                  </a:txBody>
                </a:tc>
                <a:tc>
                  <a:txBody>
                    <a:bodyPr/>
                    <a:lstStyle/>
                    <a:p>
                      <a:pPr lvl="0" indent="0" marL="0">
                        <a:buNone/>
                      </a:pPr>
                      <a:r>
                        <a:rPr/>
                        <a:t>0.822</a:t>
                      </a:r>
                    </a:p>
                  </a:txBody>
                </a:tc>
              </a:tr>
              <a:tr h="0">
                <a:tc>
                  <a:txBody>
                    <a:bodyPr/>
                    <a:lstStyle/>
                    <a:p>
                      <a:pPr lvl="0" indent="0" marL="0">
                        <a:buNone/>
                      </a:pPr>
                      <a:r>
                        <a:rPr/>
                        <a:t>precedente_65</a:t>
                      </a:r>
                    </a:p>
                  </a:txBody>
                </a:tc>
                <a:tc>
                  <a:txBody>
                    <a:bodyPr/>
                    <a:lstStyle/>
                    <a:p>
                      <a:pPr lvl="0" indent="0" marL="0">
                        <a:buNone/>
                      </a:pPr>
                      <a:r>
                        <a:rPr/>
                        <a:t>precedente</a:t>
                      </a:r>
                    </a:p>
                  </a:txBody>
                </a:tc>
                <a:tc>
                  <a:txBody>
                    <a:bodyPr/>
                    <a:lstStyle/>
                    <a:p>
                      <a:pPr lvl="0" indent="0" marL="0">
                        <a:buNone/>
                      </a:pPr>
                      <a:r>
                        <a:rPr/>
                        <a:t>SDC</a:t>
                      </a:r>
                    </a:p>
                  </a:txBody>
                </a:tc>
                <a:tc>
                  <a:txBody>
                    <a:bodyPr/>
                    <a:lstStyle/>
                    <a:p>
                      <a:pPr lvl="0" indent="0" marL="0">
                        <a:buNone/>
                      </a:pPr>
                      <a:r>
                        <a:rPr/>
                        <a:t>curto</a:t>
                      </a:r>
                    </a:p>
                  </a:txBody>
                </a:tc>
                <a:tc>
                  <a:txBody>
                    <a:bodyPr/>
                    <a:lstStyle/>
                    <a:p>
                      <a:pPr lvl="0" indent="0" marL="0">
                        <a:buNone/>
                      </a:pPr>
                      <a:r>
                        <a:rPr/>
                        <a:t>0.816</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Two representative flagged texts:</a:t>
            </a:r>
          </a:p>
          <a:p>
            <a:pPr lvl="0"/>
            <a:r>
              <a:rPr>
                <a:latin typeface="Courier"/>
              </a:rPr>
              <a:t>precedente_106</a:t>
            </a:r>
            <a:r>
              <a:rPr/>
              <a:t> (score 1.000): “Os empregadores que se dedicarem à pecuária leiteira fornecerão, diariamente, 1 (um) litro de leite aos trabalhadores que exerçam atividades insalubres.”</a:t>
            </a:r>
          </a:p>
          <a:p>
            <a:pPr lvl="0"/>
            <a:r>
              <a:rPr>
                <a:latin typeface="Courier"/>
              </a:rPr>
              <a:t>oj_sbdi-1_252</a:t>
            </a:r>
            <a:r>
              <a:rPr/>
              <a:t> (score 0.864, </a:t>
            </a:r>
            <a:r>
              <a:rPr>
                <a:latin typeface="Courier"/>
              </a:rPr>
              <a:t>cancelado</a:t>
            </a:r>
            <a:r>
              <a:rPr/>
              <a:t>): “DJ 20, 22 e 25.04.2005 O conceito de mesmo localidade de que trata o art. 461 da CLT…”</a:t>
            </a:r>
          </a:p>
          <a:p>
            <a:pPr lvl="0" indent="0" marL="0">
              <a:buNone/>
            </a:pPr>
            <a:r>
              <a:rPr/>
              <a:t>The module therefore satisfies the requirement of flagging at least one anomalous or low-quality document, and in fact surfaces a coherent set of them.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Clustering quality</a:t>
            </a:r>
          </a:p>
        </p:txBody>
      </p:sp>
      <p:pic>
        <p:nvPicPr>
          <p:cNvPr descr="figures/fig_cluster_map.png" id="0" name="Picture 1"/>
          <p:cNvPicPr>
            <a:picLocks noGrp="1" noChangeAspect="1"/>
          </p:cNvPicPr>
          <p:nvPr/>
        </p:nvPicPr>
        <p:blipFill>
          <a:blip r:embed="rId2"/>
          <a:stretch>
            <a:fillRect/>
          </a:stretch>
        </p:blipFill>
        <p:spPr bwMode="auto">
          <a:xfrm>
            <a:off x="457200" y="1447800"/>
            <a:ext cx="2997200" cy="2247900"/>
          </a:xfrm>
          <a:prstGeom prst="rect">
            <a:avLst/>
          </a:prstGeom>
          <a:noFill/>
          <a:ln w="9525">
            <a:noFill/>
            <a:headEnd/>
            <a:tailEnd/>
          </a:ln>
        </p:spPr>
      </p:pic>
      <p:sp>
        <p:nvSpPr>
          <p:cNvPr id="1" name="TextBox 3"/>
          <p:cNvSpPr txBox="1"/>
          <p:nvPr/>
        </p:nvSpPr>
        <p:spPr>
          <a:xfrm>
            <a:off x="457200" y="4076700"/>
            <a:ext cx="2997200" cy="508000"/>
          </a:xfrm>
          <a:prstGeom prst="rect">
            <a:avLst/>
          </a:prstGeom>
          <a:noFill/>
        </p:spPr>
        <p:txBody>
          <a:bodyPr/>
          <a:lstStyle/>
          <a:p>
            <a:pPr lvl="0" indent="0" marL="0" algn="ctr">
              <a:buNone/>
            </a:pPr>
            <a:r>
              <a:rPr/>
              <a:t>UMAP projection with HDBSCAN clusters</a:t>
            </a:r>
          </a:p>
        </p:txBody>
      </p:sp>
      <p:sp>
        <p:nvSpPr>
          <p:cNvPr id="4" name="Text Placeholder 3"/>
          <p:cNvSpPr>
            <a:spLocks noGrp="1"/>
          </p:cNvSpPr>
          <p:nvPr>
            <p:ph idx="2" sz="half" type="body"/>
          </p:nvPr>
        </p:nvSpPr>
        <p:spPr/>
        <p:txBody>
          <a:bodyPr/>
          <a:lstStyle/>
          <a:p>
            <a:pPr lvl="0" indent="0" marL="0">
              <a:buNone/>
            </a:pPr>
            <a:r>
              <a:rPr/>
              <a:t>The corpus splits into two dense clusters plus a small noise band: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Cluster</a:t>
                      </a:r>
                    </a:p>
                  </a:txBody>
                  <a:tcPr/>
                </a:tc>
                <a:tc>
                  <a:txBody>
                    <a:bodyPr/>
                    <a:lstStyle/>
                    <a:p>
                      <a:pPr lvl="0" indent="0" marL="0">
                        <a:buNone/>
                      </a:pPr>
                      <a:r>
                        <a:rPr/>
                        <a:t>Size</a:t>
                      </a:r>
                    </a:p>
                  </a:txBody>
                  <a:tcPr/>
                </a:tc>
                <a:tc>
                  <a:txBody>
                    <a:bodyPr/>
                    <a:lstStyle/>
                    <a:p>
                      <a:pPr lvl="0" indent="0" marL="0">
                        <a:buNone/>
                      </a:pPr>
                      <a:r>
                        <a:rPr/>
                        <a:t>Top terms</a:t>
                      </a:r>
                    </a:p>
                  </a:txBody>
                  <a:tcPr/>
                </a:tc>
              </a:tr>
              <a:tr h="0">
                <a:tc>
                  <a:txBody>
                    <a:bodyPr/>
                    <a:lstStyle/>
                    <a:p>
                      <a:pPr lvl="0" indent="0" marL="0">
                        <a:buNone/>
                      </a:pPr>
                      <a:r>
                        <a:rPr/>
                        <a:t>1</a:t>
                      </a:r>
                    </a:p>
                  </a:txBody>
                </a:tc>
                <a:tc>
                  <a:txBody>
                    <a:bodyPr/>
                    <a:lstStyle/>
                    <a:p>
                      <a:pPr lvl="0" indent="0" marL="0">
                        <a:buNone/>
                      </a:pPr>
                      <a:r>
                        <a:rPr/>
                        <a:t>1009</a:t>
                      </a:r>
                    </a:p>
                  </a:txBody>
                </a:tc>
                <a:tc>
                  <a:txBody>
                    <a:bodyPr/>
                    <a:lstStyle/>
                    <a:p>
                      <a:pPr lvl="0" indent="0" marL="0">
                        <a:buNone/>
                      </a:pPr>
                      <a:r>
                        <a:rPr/>
                        <a:t>art., res., para, decorrência, súmula</a:t>
                      </a:r>
                    </a:p>
                  </a:txBody>
                </a:tc>
              </a:tr>
              <a:tr h="0">
                <a:tc>
                  <a:txBody>
                    <a:bodyPr/>
                    <a:lstStyle/>
                    <a:p>
                      <a:pPr lvl="0" indent="0" marL="0">
                        <a:buNone/>
                      </a:pPr>
                      <a:r>
                        <a:rPr/>
                        <a:t>0</a:t>
                      </a:r>
                    </a:p>
                  </a:txBody>
                </a:tc>
                <a:tc>
                  <a:txBody>
                    <a:bodyPr/>
                    <a:lstStyle/>
                    <a:p>
                      <a:pPr lvl="0" indent="0" marL="0">
                        <a:buNone/>
                      </a:pPr>
                      <a:r>
                        <a:rPr/>
                        <a:t>35</a:t>
                      </a:r>
                    </a:p>
                  </a:txBody>
                </a:tc>
                <a:tc>
                  <a:txBody>
                    <a:bodyPr/>
                    <a:lstStyle/>
                    <a:p>
                      <a:pPr lvl="0" indent="0" marL="0">
                        <a:buNone/>
                      </a:pPr>
                      <a:r>
                        <a:rPr/>
                        <a:t>concede, homologação, res., sessão</a:t>
                      </a:r>
                    </a:p>
                  </a:txBody>
                </a:tc>
              </a:tr>
              <a:tr h="0">
                <a:tc>
                  <a:txBody>
                    <a:bodyPr/>
                    <a:lstStyle/>
                    <a:p>
                      <a:pPr lvl="0" indent="0" marL="0">
                        <a:buNone/>
                      </a:pPr>
                      <a:r>
                        <a:rPr/>
                        <a:t>noise</a:t>
                      </a:r>
                    </a:p>
                  </a:txBody>
                </a:tc>
                <a:tc>
                  <a:txBody>
                    <a:bodyPr/>
                    <a:lstStyle/>
                    <a:p>
                      <a:pPr lvl="0" indent="0" marL="0">
                        <a:buNone/>
                      </a:pPr>
                      <a:r>
                        <a:rPr/>
                        <a:t>14</a:t>
                      </a:r>
                    </a:p>
                  </a:txBody>
                </a:tc>
                <a:tc>
                  <a:txBody>
                    <a:bodyPr/>
                    <a:lstStyle/>
                    <a:p>
                      <a:pPr lvl="0" indent="0" marL="0">
                        <a:buNone/>
                      </a:pPr>
                      <a:r>
                        <a:rPr/>
                        <a:t>-</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Cluster 0 captures the historical rural-work precedentes, which is consistent with the anomaly findings in section 5: the same records are both spatially isolated and statistically unusual.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Findings and recommendations</a:t>
            </a:r>
          </a:p>
        </p:txBody>
      </p:sp>
      <p:sp>
        <p:nvSpPr>
          <p:cNvPr id="3" name="Content Placeholder 2"/>
          <p:cNvSpPr>
            <a:spLocks noGrp="1"/>
          </p:cNvSpPr>
          <p:nvPr>
            <p:ph idx="1"/>
          </p:nvPr>
        </p:nvSpPr>
        <p:spPr/>
        <p:txBody>
          <a:bodyPr/>
          <a:lstStyle/>
          <a:p>
            <a:pPr lvl="0" indent="-342900" marL="342900">
              <a:buAutoNum type="arabicPeriod"/>
            </a:pPr>
            <a:r>
              <a:rPr b="1"/>
              <a:t>Cancelled records are the largest quality issue</a:t>
            </a:r>
            <a:r>
              <a:rPr/>
              <a:t> (334 predicted, about 32% of the corpus). They should be filtered from any downstream legal search unless the user explicitly requests them.</a:t>
            </a:r>
          </a:p>
          <a:p>
            <a:pPr lvl="0" indent="-342900" marL="342900">
              <a:buAutoNum type="arabicPeriod"/>
            </a:pPr>
            <a:r>
              <a:rPr b="1"/>
              <a:t>The </a:t>
            </a:r>
            <a:r>
              <a:rPr b="1">
                <a:latin typeface="Courier"/>
              </a:rPr>
              <a:t>curto</a:t>
            </a:r>
            <a:r>
              <a:rPr b="1"/>
              <a:t> class needs either more examples or a rule-based fallback</a:t>
            </a:r>
            <a:r>
              <a:rPr/>
              <a:t>; the supervised classifier cannot learn it from five samples.</a:t>
            </a:r>
          </a:p>
          <a:p>
            <a:pPr lvl="0" indent="-342900" marL="342900">
              <a:buAutoNum type="arabicPeriod"/>
            </a:pPr>
            <a:r>
              <a:rPr b="1"/>
              <a:t>Anomalies are mostly genuine and interpretable</a:t>
            </a:r>
            <a:r>
              <a:rPr/>
              <a:t>, not noise: they are historical precedentes with a distinct legal vocabulary. They are good candidates for a dedicated “historical” collection rather than deletion.</a:t>
            </a:r>
          </a:p>
          <a:p>
            <a:pPr lvl="0" indent="-342900" marL="342900">
              <a:buAutoNum type="arabicPeriod"/>
            </a:pPr>
            <a:r>
              <a:rPr b="1"/>
              <a:t>The noise band (14 points)</a:t>
            </a:r>
            <a:r>
              <a:rPr/>
              <a:t> should be inspected manually; it may contain parsing artefacts.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Reproduction</a:t>
            </a:r>
          </a:p>
        </p:txBody>
      </p:sp>
      <p:sp>
        <p:nvSpPr>
          <p:cNvPr id="3" name="Content Placeholder 2"/>
          <p:cNvSpPr>
            <a:spLocks noGrp="1"/>
          </p:cNvSpPr>
          <p:nvPr>
            <p:ph idx="1"/>
          </p:nvPr>
        </p:nvSpPr>
        <p:spPr/>
        <p:txBody>
          <a:bodyPr/>
          <a:lstStyle/>
          <a:p>
            <a:pPr lvl="0" indent="0">
              <a:buNone/>
            </a:pPr>
            <a:r>
              <a:rPr>
                <a:solidFill>
                  <a:srgbClr val="008000"/>
                </a:solidFill>
                <a:latin typeface="Courier"/>
              </a:rPr>
              <a:t>cd</a:t>
            </a:r>
            <a:r>
              <a:rPr>
                <a:latin typeface="Courier"/>
              </a:rPr>
              <a:t> capstone</a:t>
            </a:r>
            <a:br/>
            <a:r>
              <a:rPr>
                <a:solidFill>
                  <a:srgbClr val="06287E"/>
                </a:solidFill>
                <a:latin typeface="Courier"/>
              </a:rPr>
              <a:t>make</a:t>
            </a:r>
            <a:r>
              <a:rPr>
                <a:latin typeface="Courier"/>
              </a:rPr>
              <a:t> pipeline                 </a:t>
            </a:r>
            <a:r>
              <a:rPr i="1">
                <a:solidFill>
                  <a:srgbClr val="60A0B0"/>
                </a:solidFill>
                <a:latin typeface="Courier"/>
              </a:rPr>
              <a:t># produces the labels and scores</a:t>
            </a:r>
            <a:br/>
            <a:r>
              <a:rPr>
                <a:latin typeface="Courier"/>
              </a:rPr>
              <a:t>python scripts/make_report_figures.py   </a:t>
            </a:r>
            <a:r>
              <a:rPr i="1">
                <a:solidFill>
                  <a:srgbClr val="60A0B0"/>
                </a:solidFill>
                <a:latin typeface="Courier"/>
              </a:rPr>
              <a:t># regenerates the figures and summary.json</a:t>
            </a:r>
          </a:p>
          <a:p>
            <a:pPr lvl="0" indent="0" marL="0">
              <a:buNone/>
            </a:pPr>
            <a:r>
              <a:rPr/>
              <a:t>All numbers in this report are derived from </a:t>
            </a:r>
            <a:r>
              <a:rPr>
                <a:latin typeface="Courier"/>
              </a:rPr>
              <a:t>docs/figures/summary.json</a:t>
            </a:r>
            <a:r>
              <a:rPr/>
              <a:t>, which the figure script writes from the pipeline artifacts.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Key methods and their sources (in one line each)</a:t>
            </a:r>
          </a:p>
        </p:txBody>
      </p:sp>
      <p:sp>
        <p:nvSpPr>
          <p:cNvPr id="3" name="Content Placeholder 2"/>
          <p:cNvSpPr>
            <a:spLocks noGrp="1"/>
          </p:cNvSpPr>
          <p:nvPr>
            <p:ph idx="1"/>
          </p:nvPr>
        </p:nvSpPr>
        <p:spPr/>
        <p:txBody>
          <a:bodyPr/>
          <a:lstStyle/>
          <a:p>
            <a:pPr lvl="0" indent="-342900" marL="342900">
              <a:buAutoNum type="arabicPeriod"/>
            </a:pPr>
            <a:r>
              <a:rPr b="1"/>
              <a:t>Sentence-BERT</a:t>
            </a:r>
            <a:r>
              <a:rPr/>
              <a:t> (Reimers &amp; Gurevych, 2019) - how to train transformer networks to produce high-quality sentence embeddings; the model family behind our 384-D vectors.</a:t>
            </a:r>
          </a:p>
          <a:p>
            <a:pPr lvl="0" indent="-342900" marL="342900">
              <a:buAutoNum type="arabicPeriod"/>
            </a:pPr>
            <a:r>
              <a:rPr b="1"/>
              <a:t>UMAP</a:t>
            </a:r>
            <a:r>
              <a:rPr/>
              <a:t> (McInnes et al., 2018) - the dimensionality-reduction method used for the 2D projection.</a:t>
            </a:r>
          </a:p>
          <a:p>
            <a:pPr lvl="0" indent="-342900" marL="342900">
              <a:buAutoNum type="arabicPeriod"/>
            </a:pPr>
            <a:r>
              <a:rPr b="1"/>
              <a:t>HDBSCAN</a:t>
            </a:r>
            <a:r>
              <a:rPr/>
              <a:t> (Campello et al., 2013) - the density-based clustering method used to group the corpus and mark noise.</a:t>
            </a:r>
          </a:p>
          <a:p>
            <a:pPr lvl="0" indent="-342900" marL="342900">
              <a:buAutoNum type="arabicPeriod"/>
            </a:pPr>
            <a:r>
              <a:rPr b="1"/>
              <a:t>Isolation Forest</a:t>
            </a:r>
            <a:r>
              <a:rPr/>
              <a:t> (Liu, Ting &amp; Zhou, 2008) - the anomaly-detection method used to score unusual verbetes.</a:t>
            </a:r>
          </a:p>
          <a:p>
            <a:pPr lvl="0" indent="0" marL="0">
              <a:buNone/>
            </a:pPr>
            <a:r>
              <a:rPr/>
              <a:t>You do not need to read these papers to follow this report; each is summarised above. Full citations appear in the technical report (</a:t>
            </a:r>
            <a:r>
              <a:rPr>
                <a:latin typeface="Courier"/>
              </a:rPr>
              <a:t>report.md</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Control Analysis Report</dc:title>
  <dc:creator>Gustavo Henrique de Jesus da Silva</dc:creator>
  <cp:keywords/>
  <dcterms:created xsi:type="dcterms:W3CDTF">2026-10-17T05:09:20Z</dcterms:created>
  <dcterms:modified xsi:type="dcterms:W3CDTF">2026-10-17T05:09:20Z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vt:lpwstr>
  </property>
  <property fmtid="{D5CDD505-2E9C-101B-9397-08002B2CF9AE}" pid="3" name="subtitle">
    <vt:lpwstr>TST Jurisprudence Pipeline - CSDS-352 Capstone</vt:lpwstr>
  </property>
</Properties>
</file>