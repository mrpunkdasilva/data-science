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TST Jurisprudence Analysis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Capstone Technical Report - CSDS-352</a:t>
            </a:r>
            <a:br/>
            <a:br/>
            <a:r>
              <a:rPr/>
              <a:t>Gustavo Henrique de Jesus da Silva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TST Jurisprudence Analysis Pipeline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report describes an end-to-end data science pipeline that turns the Tribunal Superior do Trabalho (TST) </a:t>
            </a:r>
            <a:r>
              <a:rPr i="1"/>
              <a:t>Livro de Jurisprudência</a:t>
            </a:r>
            <a:r>
              <a:rPr/>
              <a:t> into a searchable, clustered and quality-controlled corpus of 1058 legal records (</a:t>
            </a:r>
            <a:r>
              <a:rPr i="1"/>
              <a:t>verbetes</a:t>
            </a:r>
            <a:r>
              <a:rPr/>
              <a:t>: Súmulas, Orientações Jurisprudenciais and Precedentes Normativos). The pipeline parses the official open-access PDF, produces multilingual sentence embeddings, stores them in a persistent vector database with searchable metadata, reduces and clusters the embedding space, flags low-quality and anomalous documents, and exposes the result through a command line interface and an interactive Streamlit dashboard.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Domain and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TST publishes a consolidated book of jurisprudence that is authoritative for Brazilian labour law. The book is distributed as a large PDF, which makes it hard to search semantically, to detect cancelled or duplicated entries, and to understand how its thousands of records group thematically. Legal practitioners and students need a fast, meaning-based way to query this material and an automated way to assess its internal quality.</a:t>
            </a:r>
          </a:p>
          <a:p>
            <a:pPr lvl="0" indent="0" marL="0">
              <a:buNone/>
            </a:pPr>
            <a:r>
              <a:rPr/>
              <a:t>The capstone addresses three questions:</a:t>
            </a:r>
          </a:p>
          <a:p>
            <a:pPr lvl="0" indent="-342900" marL="342900">
              <a:buAutoNum type="arabicPeriod"/>
            </a:pPr>
            <a:r>
              <a:rPr/>
              <a:t>Can a heterogeneous set of legal records be embedded into a shared vector space and clustered into meaningful themes?</a:t>
            </a:r>
          </a:p>
          <a:p>
            <a:pPr lvl="0" indent="-342900" marL="342900">
              <a:buAutoNum type="arabicPeriod"/>
            </a:pPr>
            <a:r>
              <a:rPr/>
              <a:t>Can heuristic rules and a supervised classifier reliably separate complete verbetes from cancelled, short or duplicated ones?</a:t>
            </a:r>
          </a:p>
          <a:p>
            <a:pPr lvl="0" indent="-342900" marL="342900">
              <a:buAutoNum type="arabicPeriod"/>
            </a:pPr>
            <a:r>
              <a:rPr/>
              <a:t>Can anomalies in the corpus be surfaced automatically for human review?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 Dataset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single data source is the official TST </a:t>
            </a:r>
            <a:r>
              <a:rPr i="1"/>
              <a:t>Livro de Súmulas, Orientações Jurisprudenciais e Precedentes Normativos</a:t>
            </a:r>
            <a:r>
              <a:rPr/>
              <a:t> (12th edition), downloaded from the TST website (https://www.tst.jus.br/livro-de-sumulas-ojs-e-pns). The PDF is not redistributed in this repository; the reader can fetch it from the official source, where it is published as a public official act (not subject to copyright under Brazilian Law 9.610/98, art. 8, IV).</a:t>
            </a:r>
          </a:p>
          <a:p>
            <a:pPr lvl="0" indent="0" marL="0">
              <a:buNone/>
            </a:pPr>
            <a:r>
              <a:rPr/>
              <a:t>Parsing the book yields 1058 verbetes with the following distribution by type: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Documents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oj (Orientação Jurisprudencial)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703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sumula (Súmula)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precedente (Precedente Normativo)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1058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Text length ranges from 22 to 4204 characters, with a median of 315 characters (figure </a:t>
            </a:r>
            <a:r>
              <a:rPr>
                <a:latin typeface="Courier"/>
              </a:rPr>
              <a:t>figures/fig_text_length.png</a:t>
            </a:r>
            <a:r>
              <a:rPr/>
              <a:t>). Each record carries searchable metadata: </a:t>
            </a:r>
            <a:r>
              <a:rPr>
                <a:latin typeface="Courier"/>
              </a:rPr>
              <a:t>doc_id</a:t>
            </a:r>
            <a:r>
              <a:rPr/>
              <a:t>, </a:t>
            </a:r>
            <a:r>
              <a:rPr>
                <a:latin typeface="Courier"/>
              </a:rPr>
              <a:t>tipo</a:t>
            </a:r>
            <a:r>
              <a:rPr/>
              <a:t>, </a:t>
            </a:r>
            <a:r>
              <a:rPr>
                <a:latin typeface="Courier"/>
              </a:rPr>
              <a:t>orgao</a:t>
            </a:r>
            <a:r>
              <a:rPr/>
              <a:t>, </a:t>
            </a:r>
            <a:r>
              <a:rPr>
                <a:latin typeface="Courier"/>
              </a:rPr>
              <a:t>codigo</a:t>
            </a:r>
            <a:r>
              <a:rPr/>
              <a:t>, </a:t>
            </a:r>
            <a:r>
              <a:rPr>
                <a:latin typeface="Courier"/>
              </a:rPr>
              <a:t>tema</a:t>
            </a:r>
            <a:r>
              <a:rPr/>
              <a:t>, </a:t>
            </a:r>
            <a:r>
              <a:rPr>
                <a:latin typeface="Courier"/>
              </a:rPr>
              <a:t>text</a:t>
            </a:r>
            <a:r>
              <a:rPr/>
              <a:t>, </a:t>
            </a:r>
            <a:r>
              <a:rPr>
                <a:latin typeface="Courier"/>
              </a:rPr>
              <a:t>source</a:t>
            </a:r>
            <a:r>
              <a:rPr/>
              <a:t> and </a:t>
            </a:r>
            <a:r>
              <a:rPr>
                <a:latin typeface="Courier"/>
              </a:rPr>
              <a:t>quality_label</a:t>
            </a:r>
            <a:r>
              <a:rPr/>
              <a:t>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Architecture</a:t>
            </a:r>
          </a:p>
        </p:txBody>
      </p:sp>
      <p:pic>
        <p:nvPicPr>
          <p:cNvPr descr="figures/fig_archite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74800" y="1193800"/>
            <a:ext cx="6007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End-to-end pipeline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system is organised in six stages:</a:t>
            </a:r>
          </a:p>
          <a:p>
            <a:pPr lvl="0" indent="-342900" marL="342900">
              <a:buAutoNum type="arabicPeriod"/>
            </a:pPr>
            <a:r>
              <a:rPr b="1"/>
              <a:t>Ingestion</a:t>
            </a:r>
            <a:r>
              <a:rPr/>
              <a:t> (</a:t>
            </a:r>
            <a:r>
              <a:rPr>
                <a:latin typeface="Courier"/>
              </a:rPr>
              <a:t>src/ingest/tst.py</a:t>
            </a:r>
            <a:r>
              <a:rPr/>
              <a:t>). PDF parsing with </a:t>
            </a:r>
            <a:r>
              <a:rPr>
                <a:latin typeface="Courier"/>
              </a:rPr>
              <a:t>pdfplumber</a:t>
            </a:r>
            <a:r>
              <a:rPr/>
              <a:t>, heading detection for each verbete type, removal of historical blocks and the index, and heuristic quality labelling.</a:t>
            </a:r>
          </a:p>
          <a:p>
            <a:pPr lvl="0" indent="-342900" marL="342900">
              <a:buAutoNum type="arabicPeriod"/>
            </a:pPr>
            <a:r>
              <a:rPr b="1"/>
              <a:t>Embedding</a:t>
            </a:r>
            <a:r>
              <a:rPr/>
              <a:t> (</a:t>
            </a:r>
            <a:r>
              <a:rPr>
                <a:latin typeface="Courier"/>
              </a:rPr>
              <a:t>src/embed/model.py</a:t>
            </a:r>
            <a:r>
              <a:rPr/>
              <a:t>). The </a:t>
            </a:r>
            <a:r>
              <a:rPr>
                <a:latin typeface="Courier"/>
              </a:rPr>
              <a:t>paraphrase-multilingual-MiniLM-L12-v2</a:t>
            </a:r>
            <a:r>
              <a:rPr/>
              <a:t> sentence transformer produces a normalised 384-dimensional vector for each verbete (</a:t>
            </a:r>
            <a:r>
              <a:rPr>
                <a:latin typeface="Courier"/>
              </a:rPr>
              <a:t>tema</a:t>
            </a:r>
            <a:r>
              <a:rPr/>
              <a:t> concatenated with </a:t>
            </a:r>
            <a:r>
              <a:rPr>
                <a:latin typeface="Courier"/>
              </a:rPr>
              <a:t>text</a:t>
            </a:r>
            <a:r>
              <a:rPr/>
              <a:t>).</a:t>
            </a:r>
          </a:p>
          <a:p>
            <a:pPr lvl="0" indent="-342900" marL="342900">
              <a:buAutoNum type="arabicPeriod"/>
            </a:pPr>
            <a:r>
              <a:rPr b="1"/>
              <a:t>Vector store</a:t>
            </a:r>
            <a:r>
              <a:rPr/>
              <a:t> (</a:t>
            </a:r>
            <a:r>
              <a:rPr>
                <a:latin typeface="Courier"/>
              </a:rPr>
              <a:t>src/store/client.py</a:t>
            </a:r>
            <a:r>
              <a:rPr/>
              <a:t>). Embeddings and metadata are stored in a persistent ChromaDB collection using an HNSW index with cosine distance.</a:t>
            </a:r>
          </a:p>
          <a:p>
            <a:pPr lvl="0" indent="-342900" marL="342900">
              <a:buAutoNum type="arabicPeriod"/>
            </a:pPr>
            <a:r>
              <a:rPr b="1"/>
              <a:t>Clustering</a:t>
            </a:r>
            <a:r>
              <a:rPr/>
              <a:t> (</a:t>
            </a:r>
            <a:r>
              <a:rPr>
                <a:latin typeface="Courier"/>
              </a:rPr>
              <a:t>src/cluster/pipeline.py</a:t>
            </a:r>
            <a:r>
              <a:rPr/>
              <a:t>). UMAP reduces the vectors to two dimensions and HDBSCAN groups them, assigning each verbete a </a:t>
            </a:r>
            <a:r>
              <a:rPr>
                <a:latin typeface="Courier"/>
              </a:rPr>
              <a:t>cluster_id</a:t>
            </a:r>
            <a:r>
              <a:rPr/>
              <a:t> and the </a:t>
            </a:r>
            <a:r>
              <a:rPr>
                <a:latin typeface="Courier"/>
              </a:rPr>
              <a:t>umap_x</a:t>
            </a:r>
            <a:r>
              <a:rPr/>
              <a:t>/</a:t>
            </a:r>
            <a:r>
              <a:rPr>
                <a:latin typeface="Courier"/>
              </a:rPr>
              <a:t>umap_y</a:t>
            </a:r>
            <a:r>
              <a:rPr/>
              <a:t> coordinates.</a:t>
            </a:r>
          </a:p>
          <a:p>
            <a:pPr lvl="0" indent="-342900" marL="342900">
              <a:buAutoNum type="arabicPeriod"/>
            </a:pPr>
            <a:r>
              <a:rPr b="1"/>
              <a:t>Quality control</a:t>
            </a:r>
            <a:r>
              <a:rPr/>
              <a:t> (</a:t>
            </a:r>
            <a:r>
              <a:rPr>
                <a:latin typeface="Courier"/>
              </a:rPr>
              <a:t>src/quality/</a:t>
            </a:r>
            <a:r>
              <a:rPr/>
              <a:t>). A TF-IDF + Logistic Regression classifier learns the heuristic labels and re-predicts the quality label for every verbete; an IsolationForest produces a normalised </a:t>
            </a:r>
            <a:r>
              <a:rPr>
                <a:latin typeface="Courier"/>
              </a:rPr>
              <a:t>anomaly_score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/>
              <a:t>Search and export</a:t>
            </a:r>
            <a:r>
              <a:rPr/>
              <a:t> (</a:t>
            </a:r>
            <a:r>
              <a:rPr>
                <a:latin typeface="Courier"/>
              </a:rPr>
              <a:t>src/search/</a:t>
            </a:r>
            <a:r>
              <a:rPr/>
              <a:t>, </a:t>
            </a:r>
            <a:r>
              <a:rPr>
                <a:latin typeface="Courier"/>
              </a:rPr>
              <a:t>src/export/</a:t>
            </a:r>
            <a:r>
              <a:rPr/>
              <a:t>). Semantic search with metadata filters over ChromaDB, plus a JSONL export of the enriched dataset.</a:t>
            </a:r>
          </a:p>
          <a:p>
            <a:pPr lvl="0" indent="0" marL="0">
              <a:buNone/>
            </a:pPr>
            <a:r>
              <a:rPr/>
              <a:t>The CLI (</a:t>
            </a:r>
            <a:r>
              <a:rPr>
                <a:latin typeface="Courier"/>
              </a:rPr>
              <a:t>src/cli/main.py</a:t>
            </a:r>
            <a:r>
              <a:rPr/>
              <a:t>, built with </a:t>
            </a:r>
            <a:r>
              <a:rPr>
                <a:latin typeface="Courier"/>
              </a:rPr>
              <a:t>click</a:t>
            </a:r>
            <a:r>
              <a:rPr/>
              <a:t>) exposes every stage individually and as a single </a:t>
            </a:r>
            <a:r>
              <a:rPr>
                <a:latin typeface="Courier"/>
              </a:rPr>
              <a:t>pipeline</a:t>
            </a:r>
            <a:r>
              <a:rPr/>
              <a:t> command. A </a:t>
            </a:r>
            <a:r>
              <a:rPr>
                <a:latin typeface="Courier"/>
              </a:rPr>
              <a:t>Makefile</a:t>
            </a:r>
            <a:r>
              <a:rPr/>
              <a:t> provides short aliases.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3.1 What each method does, in plain language</a:t>
            </a:r>
          </a:p>
          <a:p>
            <a:pPr lvl="0"/>
            <a:r>
              <a:rPr b="1"/>
              <a:t>Embedding</a:t>
            </a:r>
            <a:r>
              <a:rPr/>
              <a:t> - a numeric vector that captures the </a:t>
            </a:r>
            <a:r>
              <a:rPr i="1"/>
              <a:t>meaning</a:t>
            </a:r>
            <a:r>
              <a:rPr/>
              <a:t> of a text; similar meanings produce nearby vectors. We use 384 numbers per verbete, produced by a pre-trained multilingual transformer.</a:t>
            </a:r>
          </a:p>
          <a:p>
            <a:pPr lvl="0"/>
            <a:r>
              <a:rPr b="1"/>
              <a:t>Cosine similarity</a:t>
            </a:r>
            <a:r>
              <a:rPr/>
              <a:t> - a measure of the angle between two vectors: </a:t>
            </a:r>
            <a:r>
              <a:rPr>
                <a:latin typeface="Courier"/>
              </a:rPr>
              <a:t>1.0</a:t>
            </a:r>
            <a:r>
              <a:rPr/>
              <a:t> means the same direction (very similar), </a:t>
            </a:r>
            <a:r>
              <a:rPr>
                <a:latin typeface="Courier"/>
              </a:rPr>
              <a:t>0.0</a:t>
            </a:r>
            <a:r>
              <a:rPr/>
              <a:t> means unrelated. Search ranks records by this value.</a:t>
            </a:r>
          </a:p>
          <a:p>
            <a:pPr lvl="0"/>
            <a:r>
              <a:rPr b="1"/>
              <a:t>Vector database and HNSW</a:t>
            </a:r>
            <a:r>
              <a:rPr/>
              <a:t> - a store specialised in nearest-neighbour search over vectors. HNSW is a graph index that finds approximate nearest neighbours quickly, trading a little accuracy for a large speed-up.</a:t>
            </a:r>
          </a:p>
          <a:p>
            <a:pPr lvl="0"/>
            <a:r>
              <a:rPr b="1"/>
              <a:t>UMAP</a:t>
            </a:r>
            <a:r>
              <a:rPr/>
              <a:t> - a dimensionality-reduction method; it projects the 384-dimensional vectors to two dimensions for visualisation while keeping neighbours close, so the structure becomes visible.</a:t>
            </a:r>
          </a:p>
          <a:p>
            <a:pPr lvl="0"/>
            <a:r>
              <a:rPr b="1"/>
              <a:t>HDBSCAN</a:t>
            </a:r>
            <a:r>
              <a:rPr/>
              <a:t> - a density-based clustering algorithm; it groups densely packed points without a preset number of clusters and labels sparse points as </a:t>
            </a:r>
            <a:r>
              <a:rPr i="1"/>
              <a:t>noise</a:t>
            </a:r>
            <a:r>
              <a:rPr/>
              <a:t>.</a:t>
            </a:r>
          </a:p>
          <a:p>
            <a:pPr lvl="0"/>
            <a:r>
              <a:rPr b="1"/>
              <a:t>TF-IDF</a:t>
            </a:r>
            <a:r>
              <a:rPr/>
              <a:t> - a way to turn text into numbers where rare, informative words weigh more than common ones; “1-2 grams” means single words and adjacent word pairs.</a:t>
            </a:r>
          </a:p>
          <a:p>
            <a:pPr lvl="0"/>
            <a:r>
              <a:rPr b="1"/>
              <a:t>Logistic regression</a:t>
            </a:r>
            <a:r>
              <a:rPr/>
              <a:t> - a simple, fast linear classifier that outputs a probability per class; here it learns which words indicate each quality label.</a:t>
            </a:r>
          </a:p>
          <a:p>
            <a:pPr lvl="0"/>
            <a:r>
              <a:rPr b="1"/>
              <a:t>IsolationForest</a:t>
            </a:r>
            <a:r>
              <a:rPr/>
              <a:t> - an unsupervised anomaly detector; it builds random trees that split the data, and points isolated in few splits receive a higher score.</a:t>
            </a:r>
          </a:p>
          <a:p>
            <a:pPr lvl="0"/>
            <a:r>
              <a:rPr b="1"/>
              <a:t>Transfer learning</a:t>
            </a:r>
            <a:r>
              <a:rPr/>
              <a:t> - reusing a model already trained on a large general corpus instead of training from scratch; this is why 1058 documents are enough for a usable embedding space.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Interactive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exploration interface is a Streamlit dashboard (</a:t>
            </a:r>
            <a:r>
              <a:rPr>
                <a:latin typeface="Courier"/>
              </a:rPr>
              <a:t>src/app/dashboard.py</a:t>
            </a:r>
            <a:r>
              <a:rPr/>
              <a:t>) backed by Plotly, started with </a:t>
            </a:r>
            <a:r>
              <a:rPr>
                <a:latin typeface="Courier"/>
              </a:rPr>
              <a:t>make dashboard</a:t>
            </a:r>
            <a:r>
              <a:rPr/>
              <a:t> or </a:t>
            </a:r>
            <a:r>
              <a:rPr>
                <a:latin typeface="Courier"/>
              </a:rPr>
              <a:t>streamlit run src/app/dashboard.py</a:t>
            </a:r>
            <a:r>
              <a:rPr/>
              <a:t>. It loads the enriched JSONL export and offers three tabs:</a:t>
            </a:r>
          </a:p>
          <a:p>
            <a:pPr lvl="0"/>
            <a:r>
              <a:rPr b="1"/>
              <a:t>Search</a:t>
            </a:r>
            <a:r>
              <a:rPr/>
              <a:t>: semantic search with filters for </a:t>
            </a:r>
            <a:r>
              <a:rPr>
                <a:latin typeface="Courier"/>
              </a:rPr>
              <a:t>tipo</a:t>
            </a:r>
            <a:r>
              <a:rPr/>
              <a:t>, </a:t>
            </a:r>
            <a:r>
              <a:rPr>
                <a:latin typeface="Courier"/>
              </a:rPr>
              <a:t>orgao</a:t>
            </a:r>
            <a:r>
              <a:rPr/>
              <a:t> and quality label, ranked by cosine similarity in ChromaDB (with a keyword fallback when the vector store is absent).</a:t>
            </a:r>
          </a:p>
          <a:p>
            <a:pPr lvl="0"/>
            <a:r>
              <a:rPr b="1"/>
              <a:t>Cluster map</a:t>
            </a:r>
            <a:r>
              <a:rPr/>
              <a:t>: an interactive UMAP scatter coloured by HDBSCAN cluster, with per-point hover metadata, a cluster-size chart and per-cluster top terms.</a:t>
            </a:r>
          </a:p>
          <a:p>
            <a:pPr lvl="0"/>
            <a:r>
              <a:rPr b="1"/>
              <a:t>Quality and anomalies</a:t>
            </a:r>
            <a:r>
              <a:rPr/>
              <a:t>: the quality label distribution, the anomaly score histogram and a table of flagged documents filtered by an adjustable threshold.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Corpus</a:t>
            </a:r>
            <a:r>
              <a:rPr/>
              <a:t>: 1058 verbetes (703 OJ, 235 Súmulas, 120 Precedentes Normativos).</a:t>
            </a:r>
          </a:p>
          <a:p>
            <a:pPr lvl="0"/>
            <a:r>
              <a:rPr b="1"/>
              <a:t>Clustering</a:t>
            </a:r>
            <a:r>
              <a:rPr/>
              <a:t>: 2 dense clusters (1009 and 35 verbetes) plus 14 noise points, showing that most of the book shares a common legal vocabulary while a smaller group (historical rural-work precedentes) separates cleanly.</a:t>
            </a:r>
          </a:p>
          <a:p>
            <a:pPr lvl="0"/>
            <a:r>
              <a:rPr b="1"/>
              <a:t>Quality classification</a:t>
            </a:r>
            <a:r>
              <a:rPr/>
              <a:t>: TF-IDF + Logistic Regression reaches 0.906 accuracy and 0.708 macro F1 on a held-out split (212 documents). The model predicts 694 complete, 334 cancelled, 27 short and 3 duplicate verbetes. The detailed evaluation is in the accompanying quality control report.</a:t>
            </a:r>
          </a:p>
          <a:p>
            <a:pPr lvl="0"/>
            <a:r>
              <a:rPr b="1"/>
              <a:t>Anomaly detection</a:t>
            </a:r>
            <a:r>
              <a:rPr/>
              <a:t>: 47 documents (4.4%) score above 0.7; the strongest signals are short historical precedentes that use vocabulary very different from the main corpus.</a:t>
            </a:r>
          </a:p>
          <a:p>
            <a:pPr lvl="0"/>
            <a:r>
              <a:rPr b="1"/>
              <a:t>Semantic search</a:t>
            </a:r>
            <a:r>
              <a:rPr/>
              <a:t>: queries such as </a:t>
            </a:r>
            <a:r>
              <a:rPr>
                <a:latin typeface="Courier"/>
              </a:rPr>
              <a:t>intervalo intrajornada</a:t>
            </a:r>
            <a:r>
              <a:rPr/>
              <a:t> return the expected verbetes with high cosine similarity.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heuristic labels are derived from lexical rules, so the classifier inherits their blind spots; the smallest class (</a:t>
            </a:r>
            <a:r>
              <a:rPr>
                <a:latin typeface="Courier"/>
              </a:rPr>
              <a:t>curto</a:t>
            </a:r>
            <a:r>
              <a:rPr/>
              <a:t>, 5 test samples) is not learned at all (F1 = 0).</a:t>
            </a:r>
          </a:p>
          <a:p>
            <a:pPr lvl="0"/>
            <a:r>
              <a:rPr/>
              <a:t>Clustering runs on a 2D UMAP projection for visualisation, which can merge nearby themes; HDBSCAN with the default parameters resolves only two clusters.</a:t>
            </a:r>
          </a:p>
          <a:p>
            <a:pPr lvl="0"/>
            <a:r>
              <a:rPr/>
              <a:t>The pipeline ingests the official PDF as well as plain-text files, but only a single collection (the TST book) is validated end to end.</a:t>
            </a:r>
          </a:p>
          <a:p>
            <a:pPr lvl="0"/>
            <a:r>
              <a:rPr/>
              <a:t>Results depend on the download of the source PDF; the repository ships the fixtures and the full reproduction commands but not the book itself.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Support additional document formats (plain text) and more sources.</a:t>
            </a:r>
          </a:p>
          <a:p>
            <a:pPr lvl="0"/>
            <a:r>
              <a:rPr/>
              <a:t>Compare additional embedding models and evaluate retrieval quality with a labelled relevance set.</a:t>
            </a:r>
          </a:p>
          <a:p>
            <a:pPr lvl="0"/>
            <a:r>
              <a:rPr/>
              <a:t>Add an active-learning loop so that human corrections feed the classifier.</a:t>
            </a:r>
          </a:p>
          <a:p>
            <a:pPr lvl="0"/>
            <a:r>
              <a:rPr/>
              <a:t>Package the dashboard as a container for one-command reproduction.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Reproducibility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capstone</a:t>
            </a:r>
            <a:br/>
            <a:r>
              <a:rPr>
                <a:latin typeface="Courier"/>
              </a:rPr>
              <a:t>pip install </a:t>
            </a:r>
            <a:r>
              <a:rPr>
                <a:solidFill>
                  <a:srgbClr val="7D9029"/>
                </a:solidFill>
                <a:latin typeface="Courier"/>
              </a:rPr>
              <a:t>-e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".[dev]"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make</a:t>
            </a:r>
            <a:r>
              <a:rPr>
                <a:latin typeface="Courier"/>
              </a:rPr>
              <a:t> pipeline            </a:t>
            </a:r>
            <a:r>
              <a:rPr i="1">
                <a:solidFill>
                  <a:srgbClr val="60A0B0"/>
                </a:solidFill>
                <a:latin typeface="Courier"/>
              </a:rPr>
              <a:t># ingest -&gt; embed -&gt; cluster -&gt; quality -&gt; export</a:t>
            </a:r>
            <a:br/>
            <a:r>
              <a:rPr>
                <a:solidFill>
                  <a:srgbClr val="06287E"/>
                </a:solidFill>
                <a:latin typeface="Courier"/>
              </a:rPr>
              <a:t>make</a:t>
            </a:r>
            <a:r>
              <a:rPr>
                <a:latin typeface="Courier"/>
              </a:rPr>
              <a:t> stats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collection statistics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make</a:t>
            </a:r>
            <a:r>
              <a:rPr>
                <a:latin typeface="Courier"/>
              </a:rPr>
              <a:t> dashboard           </a:t>
            </a:r>
            <a:r>
              <a:rPr i="1">
                <a:solidFill>
                  <a:srgbClr val="60A0B0"/>
                </a:solidFill>
                <a:latin typeface="Courier"/>
              </a:rPr>
              <a:t># interactive Streamlit interface</a:t>
            </a:r>
          </a:p>
          <a:p>
            <a:pPr lvl="0" indent="0" marL="0">
              <a:buNone/>
            </a:pPr>
            <a:r>
              <a:rPr/>
              <a:t>The raw PDF is expected at </a:t>
            </a:r>
            <a:r>
              <a:rPr>
                <a:latin typeface="Courier"/>
              </a:rPr>
              <a:t>data/raw/livrointernet12pdf.pdf</a:t>
            </a:r>
            <a:r>
              <a:rPr/>
              <a:t>. The ABNT sample fixture </a:t>
            </a:r>
            <a:r>
              <a:rPr>
                <a:latin typeface="Courier"/>
              </a:rPr>
              <a:t>tests/fixtures/tst-sample.pdf</a:t>
            </a:r>
            <a:r>
              <a:rPr/>
              <a:t> allows the pipeline to run offline.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TST, </a:t>
            </a:r>
            <a:r>
              <a:rPr i="1"/>
              <a:t>Livro de Súmulas, Orientações Jurisprudenciais e Precedentes Normativos</a:t>
            </a:r>
            <a:r>
              <a:rPr/>
              <a:t>. https://www.tst.jus.br/livro-de-sumulas-ojs-e-pns</a:t>
            </a:r>
          </a:p>
          <a:p>
            <a:pPr lvl="1"/>
            <a:r>
              <a:rPr/>
              <a:t>The data source: an official public act, not protected by copyright.</a:t>
            </a:r>
          </a:p>
          <a:p>
            <a:pPr lvl="0" indent="-342900" marL="342900">
              <a:buAutoNum type="arabicPeriod"/>
            </a:pPr>
            <a:r>
              <a:rPr/>
              <a:t>Reimers, N., Gurevych, I. </a:t>
            </a:r>
            <a:r>
              <a:rPr i="1"/>
              <a:t>Sentence-BERT: Sentence Embeddings using Siamese BERT-Networks</a:t>
            </a:r>
            <a:r>
              <a:rPr/>
              <a:t>, 2019.</a:t>
            </a:r>
          </a:p>
          <a:p>
            <a:pPr lvl="1"/>
            <a:r>
              <a:rPr/>
              <a:t>In one line: how to train transformer networks to produce high-quality sentence embeddings (the model family used here).</a:t>
            </a:r>
          </a:p>
          <a:p>
            <a:pPr lvl="0" indent="-342900" marL="342900">
              <a:buAutoNum type="arabicPeriod"/>
            </a:pPr>
            <a:r>
              <a:rPr/>
              <a:t>McInnes, L., Healy, J., Melville, J. </a:t>
            </a:r>
            <a:r>
              <a:rPr i="1"/>
              <a:t>UMAP: Uniform Manifold Approximation and Projection for Dimension Reduction</a:t>
            </a:r>
            <a:r>
              <a:rPr/>
              <a:t>, 2018.</a:t>
            </a:r>
          </a:p>
          <a:p>
            <a:pPr lvl="1"/>
            <a:r>
              <a:rPr/>
              <a:t>In one line: the dimensionality-reduction method used for the 2D projection.</a:t>
            </a:r>
          </a:p>
          <a:p>
            <a:pPr lvl="0" indent="-342900" marL="342900">
              <a:buAutoNum type="arabicPeriod"/>
            </a:pPr>
            <a:r>
              <a:rPr/>
              <a:t>Campello, R. et al. </a:t>
            </a:r>
            <a:r>
              <a:rPr i="1"/>
              <a:t>Density-Based Clustering Based on Hierarchical Density Estimates (HDBSCAN)</a:t>
            </a:r>
            <a:r>
              <a:rPr/>
              <a:t>, 2013.</a:t>
            </a:r>
          </a:p>
          <a:p>
            <a:pPr lvl="1"/>
            <a:r>
              <a:rPr/>
              <a:t>In one line: the density-based clustering method used to group the corpus.</a:t>
            </a:r>
          </a:p>
          <a:p>
            <a:pPr lvl="0" indent="-342900" marL="342900">
              <a:buAutoNum type="arabicPeriod"/>
            </a:pPr>
            <a:r>
              <a:rPr/>
              <a:t>Liu, F. T., Ting, K. M., Zhou, Z.-H. </a:t>
            </a:r>
            <a:r>
              <a:rPr i="1"/>
              <a:t>Isolation Forest</a:t>
            </a:r>
            <a:r>
              <a:rPr/>
              <a:t>, 2008.</a:t>
            </a:r>
          </a:p>
          <a:p>
            <a:pPr lvl="1"/>
            <a:r>
              <a:rPr/>
              <a:t>In one line: the anomaly-detection method used to score unusual verbetes.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TST Jurisprudence Analysis Pipeline</dc:title>
  <dc:creator>Gustavo Henrique de Jesus da Silva</dc:creator>
  <cp:keywords/>
  <dcterms:created xsi:type="dcterms:W3CDTF">2026-10-17T05:09:20Z</dcterms:created>
  <dcterms:modified xsi:type="dcterms:W3CDTF">2026-10-17T05:09:20Z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</vt:lpwstr>
  </property>
  <property fmtid="{D5CDD505-2E9C-101B-9397-08002B2CF9AE}" pid="3" name="subtitle">
    <vt:lpwstr>Capstone Technical Report - CSDS-352</vt:lpwstr>
  </property>
</Properties>
</file>